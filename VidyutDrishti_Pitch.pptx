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772400" y="-914400"/>
            <a:ext cx="6400800" cy="9144000"/>
          </a:xfrm>
          <a:prstGeom prst="parallelogram">
            <a:avLst>
              <a:gd name="adj" fmla="val 40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"/>
            <a:ext cx="457200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64008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VIDYUTDRISHTI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914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AI for Bharat  ·  Theme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96012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FFFFFF"/>
                </a:solidFill>
                <a:latin typeface="Calibri"/>
              </a:rPr>
              <a:t>VidyutDrishti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45309"/>
                </a:solidFill>
                <a:latin typeface="Calibri"/>
              </a:rPr>
              <a:t>AT&amp;C Loss Recovery Intelligence System for BESCOM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2E8F0"/>
                </a:solidFill>
                <a:latin typeface="Calibri"/>
              </a:rPr>
              <a:t>A read-only software intelligence layer that turns BESCOM's existing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2E8F0"/>
                </a:solidFill>
                <a:latin typeface="Calibri"/>
              </a:rPr>
              <a:t>smart-meter data into rupee-quantified, prioritised inspection leads.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7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080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[Team Name] · [Member 1] · [Member 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080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Live · Docker Compose · 7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080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DEMO VIDEO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3093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https://youtu.be/your-demo-video-id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BESCOM loses Rs. 1,800 Cr a year. The data to stop it already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8.5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2697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Consumers across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Bengaluru + 6 districts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64992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50876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17 %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103120"/>
            <a:ext cx="2697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Current AT&amp;C loss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(national avg ~16%)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50876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Rs. 1,800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103120"/>
            <a:ext cx="2697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Estimated annual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revenue leakage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7696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97696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50876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103120"/>
            <a:ext cx="2697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Smart-meter granularity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already collected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Three operational failures drive the leakage: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630168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61188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top-down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loss attribution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526280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Section-level AT&amp;C is known; DT and meter-level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attribution is not. Losses visible but not actionable.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1772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3630168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361188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peer-aware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526280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 40% June drop looks identical for AC removal vs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 hook-bypass — neither inference is defensible.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45820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8200" y="3630168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361188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inspection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ROI prioritisation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526280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Rs. 500/mo and Rs. 8,000/mo cases share queue priority.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Field labour wasted on low-recovery cases.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760720"/>
            <a:ext cx="73152" cy="5486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852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F172A"/>
                </a:solidFill>
                <a:latin typeface="Calibri"/>
              </a:rPr>
              <a:t>Every 1% reduction in BESCOM's AT&amp;C loss = Rs. 100 Cr recovered annually.  Tampered meters today run 6–12 months undetected.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A read-only intelligence layer above BESCOM's existing AMI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280160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280160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Smart Meters (existing AMI · 15-min intervals)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9320" y="1783080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1947672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4767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TimescaleDB · time-series store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9320" y="2450592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1560" y="2615184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615184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Part A: Feeder Forecast + Zone Risk    |    Part B: 4-Layer Detection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89320" y="3118104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" y="3282696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82696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Confidence Engine + Behavioural Classifier + Leakage Quantifier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89320" y="3785616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1560" y="3950208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950208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Ranked Inspection Queue (sorted by Rs. × confidence)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89320" y="4453128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1560" y="4617720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617720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Field Inspector  →  Outcome  →  90-day Feedback Loop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77840"/>
            <a:ext cx="3429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Read-only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85216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Zero writes to AMI/SCADA/MDM/billing.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Integration risk = 0.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5577840"/>
            <a:ext cx="3429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Deterministic &amp; auditable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85216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Every flag has a rule trace.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No black-box billing decisions.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5577840"/>
            <a:ext cx="3429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Self-improving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585216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Inspector outcomes recalibrate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thresholds over first 90 days.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PART A · FORECASTING &amp; ZONE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Per-feeder demand forecasting with calibrated confidence bands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04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Model specification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7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74903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Prophet-compatible seasonal baseline + trend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Trained on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15-min meter readings → feeder-level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24 hours, refreshed hourly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15-min forecast points (96 / day)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Confidence bands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P10 / P90 native uncertainty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Regressors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IN holidays, KA holidays, Mar–Jun AC flag, t–7d / t–14d lags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Production swap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1-day to Facebook Prophet (schema-compatible)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Zone risk classification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9164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691640"/>
            <a:ext cx="109728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178308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91C1C"/>
                </a:solidFill>
                <a:latin typeface="Calibri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≥ 88% of historical 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19456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Alert section engineer · pre-emptive shedding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65176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651760"/>
            <a:ext cx="109728" cy="86868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27432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16A07"/>
                </a:solidFill>
                <a:latin typeface="Calibri"/>
              </a:rPr>
              <a:t>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74320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75–88% of historical 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15468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Monitor · prepare contingency dispatch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61188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611880"/>
            <a:ext cx="109728" cy="8686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370332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5803D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703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&lt; 75% of historical 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11480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Normal operations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54880"/>
            <a:ext cx="11091672" cy="3657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773168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Forecast evaluation targets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48640" y="5166360"/>
          <a:ext cx="11064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  <a:gridCol w="3291840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vs hour-of-day historical average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vs persistence (t = t-1)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vs seasonal naive (t = t-7d)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P10–P90 empirical coverage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95% of actuals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PART B · ANOMALY &amp; THEFT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4-layer detection — each layer catches a different theft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05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173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490472"/>
            <a:ext cx="1783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DT Energy 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DT input − Σ consumer 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8036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&gt; 8% imbalance, 3+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2044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Hook-bypass · large-scale tampering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4992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4992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14173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33672" y="1490472"/>
            <a:ext cx="1783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Statistical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21031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23317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90-day rolling z-score by hour/day/month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288036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310896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|Z| &gt; 3.0, 4+ slots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352044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37033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Sudden meter drop or spike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1344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1344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14173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1490472"/>
            <a:ext cx="1783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Peer Group Comparison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21031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23317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Same DT + same consumer category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88036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310896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−2.5σ vs peer median, 5+ days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352044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37033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Distinguishes theft from seasonal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97696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997696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0576" y="14173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376" y="1490472"/>
            <a:ext cx="1783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Isolation Forest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0576" y="21031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576" y="23317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Multivariate features · contamination 0.03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0576" y="288036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310896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Retrained monthly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0576" y="352044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0576" y="37033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Subtle pattern shifts, PF drops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16052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22452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L3 FEATURE VECTOR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448056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kWh mean  ·  peak-to-mean ratio  ·  night-consumption ratio  ·  trend slope  ·  power factor  ·  zero-reading rate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521208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09"/>
                </a:solidFill>
                <a:latin typeface="Calibri"/>
              </a:rPr>
              <a:t>Why four layers?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486400"/>
            <a:ext cx="107899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single anomaly signal has too many false positives at utility scale.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Requiring independent multi-layer agreement converts noisy signals into decision-grade leads — this is the core innovation.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AGGREGATION &amp;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Confidence Engine + Behavioural Classifier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Confidence Engine — weighted aggregation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84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L0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Aggregate DT signal — less specific to a meter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Individual historical baseline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Peer-relative — strongest theft differentiator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Multivariate pattern detection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365760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91440" cy="5029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1C1C"/>
                </a:solidFill>
                <a:latin typeface="Calibri"/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4904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≥ 0.75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Immediate inspection · top of 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251960"/>
            <a:ext cx="91440" cy="50292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6A07"/>
                </a:solidFill>
                <a:latin typeface="Calibri"/>
              </a:rP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3434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0.50 – 0.75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3434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Inspect within 7 days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4632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846320"/>
            <a:ext cx="9144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3A8A"/>
                </a:solidFill>
                <a:latin typeface="Calibri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0.30 – 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93776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Monitor 7 more days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4068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440680"/>
            <a:ext cx="91440" cy="502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3212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4748B"/>
                </a:solidFill>
                <a:latin typeface="Calibri"/>
              </a:rPr>
              <a:t>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53212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&lt; 0.30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5321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No 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Behavioural classifier — pattern → operational interpretation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92240" y="1691640"/>
          <a:ext cx="5166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3756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Code output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Operational interpretation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sudden_drop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Hook Bypass candidate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flatline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Stop / disconnected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erratic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Tampering (gradual)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spike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fault / back-feed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normal_pattern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Legitimate variation / vacant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92240" y="4297680"/>
            <a:ext cx="5166360" cy="201168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43484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LEAKAGE QUANTIFIER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0916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Rs./month per flagged meter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21208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leakage_Rs = (peer_median_kWh − actual_billed_kWh) × tariff_slab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715000"/>
            <a:ext cx="4937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Tariff slab from MDM consumer master.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Queue is sorted by rupee value, not raw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RISK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Data quality, noise suppression, and a closed feedback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07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Missing-reading policy (deterministic, auditable)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4747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Gap duration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Handling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Under 1 hour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Forward-fill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1 to 6 hours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Linear interpolation, excluded from scoring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Over 6 hours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Scoring suspended for that meter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Missing + voltage present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Raised as Meter Stop flag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Seasonality &amp; false-positive mitigation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1691640"/>
          <a:ext cx="5166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5204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Summer AC / monsoon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Explicit regressors in forecast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Karnataka holidays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Named effects in Prophet model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Appliance spikes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4-slot minimum (L1) · daily aggregation (L2/L3)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Peer compare → multi-layer confidence → feedback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160520"/>
            <a:ext cx="11091672" cy="21488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97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FEEDBACK LOOP — closed-loop recalibration over first 90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800600"/>
            <a:ext cx="91440" cy="13716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37760"/>
            <a:ext cx="2240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Confirmed Theft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40"/>
            <a:ext cx="22402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 confirmed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4800600"/>
            <a:ext cx="9144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4937760"/>
            <a:ext cx="2240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False Positive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5349240"/>
            <a:ext cx="22402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 tightened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7064" y="4800600"/>
            <a:ext cx="91440" cy="137160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937760"/>
            <a:ext cx="2240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Equipment Fault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5349240"/>
            <a:ext cx="22402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Reroute to maintenance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976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51976" y="4800600"/>
            <a:ext cx="91440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576" y="4937760"/>
            <a:ext cx="2240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Vacant Premises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5349240"/>
            <a:ext cx="22402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Add to allowlist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LIVE 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Performance against synthetic ground truth — live in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51760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417320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78 %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488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Precision @ 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774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≥ 70%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68112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68112" y="1417320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155448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85 %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21488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Recall (hook bypass)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774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≥ 85%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84464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1417320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155448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0.81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21488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F1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3774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Harmonic mean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696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00816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00816" y="1417320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155448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6.2 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6296" y="21488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Mean detection lag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23774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&lt; 10 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Threshold sweep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48640" y="333756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371600"/>
                <a:gridCol w="1371600"/>
                <a:gridCol w="137160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0.5  (default)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92240" y="2926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Confusion matrix @ default threshold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492240" y="3337560"/>
          <a:ext cx="5166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/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Pred. Theft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Pred. Normal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F172A"/>
                          </a:solidFill>
                          <a:latin typeface="Calibri"/>
                        </a:rPr>
                        <a:t>Actual Theft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17  (TP)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  (FN)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F172A"/>
                          </a:solidFill>
                          <a:latin typeface="Calibri"/>
                        </a:rPr>
                        <a:t>Actual Normal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  (FP)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21  (TN)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492240" y="5120640"/>
            <a:ext cx="51663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5120640"/>
            <a:ext cx="91440" cy="1188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521208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VERIFY LIVE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5440680"/>
            <a:ext cx="4846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GET /api/v1/metrics/evaluation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All numbers above are computed live by the running prototype's evaluation harness.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Seven modules, all live in the submitted Docker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09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160" y="1371600"/>
            <a:ext cx="856440" cy="16459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27248"/>
            <a:ext cx="26974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26974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CBD5E1"/>
                </a:solidFill>
                <a:latin typeface="Calibri"/>
              </a:rPr>
              <a:t>KPIs · 6 charts · feeder forecast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2-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466394"/>
            <a:ext cx="2514600" cy="145633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364992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3127248"/>
            <a:ext cx="26974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Inspection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337560"/>
            <a:ext cx="26974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CBD5E1"/>
                </a:solidFill>
                <a:latin typeface="Calibri"/>
              </a:rPr>
              <a:t>Ranked by Rs. × confidence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3-meter-loo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84" y="1466394"/>
            <a:ext cx="2514600" cy="145633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181344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3127248"/>
            <a:ext cx="26974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Meter Lookup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3337560"/>
            <a:ext cx="26974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CBD5E1"/>
                </a:solidFill>
                <a:latin typeface="Calibri"/>
              </a:rPr>
              <a:t>4-layer drill-down with rule trace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4-zone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5791" y="1371600"/>
            <a:ext cx="1901289" cy="16459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997696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34856" y="3127248"/>
            <a:ext cx="26974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Zone Risk 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3337560"/>
            <a:ext cx="26974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CBD5E1"/>
                </a:solidFill>
                <a:latin typeface="Calibri"/>
              </a:rPr>
              <a:t>Bengaluru Leaflet heatmap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03320"/>
            <a:ext cx="269748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05-api-do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1586" y="3794760"/>
            <a:ext cx="1391588" cy="196596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48640" y="58521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870448"/>
            <a:ext cx="2743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API Documentation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080760"/>
            <a:ext cx="274320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CBD5E1"/>
                </a:solidFill>
                <a:latin typeface="Calibri"/>
              </a:rPr>
              <a:t>7 endpoints · Swagger UI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3703320"/>
            <a:ext cx="4114800" cy="26060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11880" y="3840480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MODULE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16052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Evaluation Metrics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11880" y="4709160"/>
            <a:ext cx="3840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• Live precision · recall · F1 vs ground truth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• Threshold sweep chart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• Confusion matrix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• Detection-lag distribution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0" y="3703320"/>
            <a:ext cx="4114800" cy="260604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18120" y="3840480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B2A5B"/>
                </a:solidFill>
                <a:latin typeface="Calibri"/>
              </a:rPr>
              <a:t>MODULE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16052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ROI Calculator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4709160"/>
            <a:ext cx="3840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• Interactive sliders for detection rate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• Avg theft value · AT&amp;C loss %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• Live BESCOM-scale projection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• 5-year NPV at 10% discount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6355080"/>
            <a:ext cx="11091672" cy="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REAL-WORLD DEPLOYABILITY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Built for Day-1 deployment at BESCOM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10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371600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Read-only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645920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100% read. Zero writes to AMI/SCADA/MDM/billing.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81328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2" y="1371600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No consumer PII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2" y="1645920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Operates on meter_id + kWh + voltage + PF only.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5904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1481328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8824" y="1371600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Auditable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1645920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Deterministic rule trace per flag. Audit log.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3774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2267712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Inspector in the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2542032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System recommends; inspector decides. No auto-disconnect.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53712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3712" y="23774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6632" y="2267712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CEA-compliant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6632" y="2542032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Reading-processing rules align with metering regulations.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93024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75904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904" y="23774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8824" y="2267712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On-premise deployable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8824" y="2542032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Docker Compose. Runs on BESCOM data centre.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Calibri"/>
              </a:rPr>
              <a:t>4-phase build plan from the submitted idea — all phases shipped in this prototype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7947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3794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34340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Ingestion · TimescaleDB · synthetic data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(2 DTs · 60 meters · 180 days · 3 theft scenarios)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20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8328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37947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3794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Forecasting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6160" y="434340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Prophet-compatible forecasts · holidays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seasonal features · zone risk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6616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66160" y="5120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792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37947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80" y="3794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34340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L0–L3 layers · confidence engine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behavioural classifier · queue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5120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5256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5256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35440" y="37947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3794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UI &amp; Ops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35440" y="434340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Dashboards · feedback loop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Docker Compose · E2E tests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23544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35440" y="5120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SCALABILITY &amp; FINANCIAL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Rs. 910 Cr / year recovery at BESCOM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11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Rs. 910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Projected annual recovery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3716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6459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&lt; 1 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2402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Platform payback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716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16459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Rs. 3,443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2402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5-year NPV (10% discount)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Assumptions (live in /api/v1/metrics/roi)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337560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BESCOM consumers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8,500,000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Active-theft prevalence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3% (industry avg)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Theft population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255,000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Detection rate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Avg monthly leakage / case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Rs. 3,500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Inspector cost saved vs random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92240" y="2926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Replication potential — same architecture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492240" y="3337560"/>
          <a:ext cx="5166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1005840"/>
                <a:gridCol w="14173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DISCOM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Consumers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Recovery / yr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TANGEDCO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Tamil Nadu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 M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3,200 Cr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MSEDCL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Maharashtra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28 M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2,900 Cr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UPPCL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Uttar Pradesh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33 M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3,500 Cr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All-India DISCOMs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250 M+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Rs. 25,000+ Cr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6492240" y="5669280"/>
            <a:ext cx="5166360" cy="640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576072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TAM: Rs. 25,000+ Cr addressable across Indian DISCOMs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SUBMISSION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How we map to each evaluation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109728" cy="7772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50876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0876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35331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Problem Relevance &amp; Depth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66420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BESCOM-specific Rs. 1,800 Cr leakage · 3 named operational failures · industry-grounded 3% prevalence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4884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109728" cy="7772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37744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37744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22199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Technical Implementation &amp; Innovation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253288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4-layer detection · Prophet-compatible forecast · weighted confidence · 5-class classifier · live P=78%, R=85%, F1=0.81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01752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017520"/>
            <a:ext cx="109728" cy="7772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324612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24612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09067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Real-World Deployability &amp; Govt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40156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Read-only · no PII · CEA-compliant · 4-phase build all shipped · Docker for BESCOM data centre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8620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886200"/>
            <a:ext cx="109728" cy="7772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11480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11480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395935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Demo Quality &amp;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27024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7 working modules · 7 live API endpoints · 5-min jury verification 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75488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754880"/>
            <a:ext cx="109728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98348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8348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82803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Scalability &amp; Long-Term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5138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Rs. 910 Cr/yr recovery · 5-yr NPV Rs. 3,443 Cr · Rs. 25,000 Cr all-India TAM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623560"/>
            <a:ext cx="11091672" cy="3200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641848"/>
            <a:ext cx="3200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VERIFY IN 5 MIN  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5641848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FFFFFF"/>
                </a:solidFill>
                <a:latin typeface="Consolas"/>
              </a:rPr>
              <a:t>git clone … &amp;&amp; docker compose up   →   localhost:5173 (UI)  ·  localhost:8000/docs (API)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989320"/>
            <a:ext cx="11091672" cy="32004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007608"/>
            <a:ext cx="3200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▶  WATCH DEMO VIDEO 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6007608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https://youtu.be/your-demo-video-id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