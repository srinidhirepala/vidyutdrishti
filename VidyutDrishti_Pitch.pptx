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8" r:id="rId19"/>
    <p:sldId id="265" r:id="rId16"/>
    <p:sldId id="266" r:id="rId17"/>
    <p:sldId id="267" r:id="rId18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0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772400" y="-914400"/>
            <a:ext cx="6400800" cy="9144000"/>
          </a:xfrm>
          <a:prstGeom prst="parallelogram">
            <a:avLst>
              <a:gd name="adj" fmla="val 4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"/>
            <a:ext cx="457200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6400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9144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AI for Bharat  ·  Theme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96012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45309"/>
                </a:solidFill>
                <a:latin typeface="Calibri"/>
              </a:rPr>
              <a:t>AT&amp;C Loss Recovery Intelligence System for BESCOM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A read-only software intelligence layer that turns BESCOM's existing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smart-meter data into rupee-quantified, prioritised inspection leads.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7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Live · Docker Compose · 7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DEMO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3093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https://drive.google.com/file/d/1LOgpMxeu2LzAK52B-go-8gtAn6rHe1Eu/view?usp=sharing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0680"/>
            <a:ext cx="4754880" cy="658368"/>
          </a:xfrm>
          <a:prstGeom prst="rect">
            <a:avLst/>
          </a:prstGeom>
          <a:solidFill>
            <a:srgbClr val="DBEAF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40680"/>
            <a:ext cx="64008" cy="6583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5495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E40AF"/>
                </a:solidFill>
              </a:rPr>
              <a:t>Team: Inference TimeOut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57698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1E293B"/>
                </a:solidFill>
              </a:rPr>
              <a:t>Asha Jyothi Boddu  &amp;  Sai Srinidhi Repala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BESCOM loses Rs. 1,800 Cr a year. The data to stop it already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8.5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Consumers across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Bengaluru + 6 districts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4992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Current AT&amp;C loss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(national avg ~16%)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1,800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Estimated annual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revenue leakage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50876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103120"/>
            <a:ext cx="2697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Smart-meter granularity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already collected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Three operational failures drive the leakage: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top-down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loss attribution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Section-level AT&amp;C is known; DT and meter-level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attribution is not. Losses visible but not actionable.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1772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peer-aware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40% June drop looks identical for AC removal vs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hook-bypass — neither inference is defensible.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5820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3630168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61188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inspection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ROI prioritisation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526280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Rs. 500/mo and Rs. 8,000/mo cases share queue priority.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Field labour wasted on low-recovery cases.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73152" cy="548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F172A"/>
                </a:solidFill>
                <a:latin typeface="Calibri"/>
              </a:rPr>
              <a:t>Every 1% reduction in BESCOM's AT&amp;C loss = Rs. 100 Cr recovered annually.  Tampered meters today run 6–12 months undetected.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A read-only intelligence layer above BESCOM's existing 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28016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280160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Smart Meters (existing AMI · 15-min intervals)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1783080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947672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4767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TimescaleDB · time-series store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2450592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2615184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615184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Part A: Feeder Forecast + Zone Risk    |    Part B: 4-Layer Detection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9320" y="3118104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3282696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82696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Confidence Engine + Behavioural Classifier + Leakage Quantifier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89320" y="3785616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3950208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950208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Ranked Inspection Queue (sorted by Rs. × confidence)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89320" y="4453128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1560" y="461772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617720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Field Inspector  →  Outcome  →  90-day Feedback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Read-only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Zero writes to AMI/SCADA/MDM/billing.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Integration risk = 0.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Deterministic &amp; auditable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Every flag has a rule trace.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black-box billing decisions.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5577840"/>
            <a:ext cx="3429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Self-improving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85216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Inspector outcomes recalibrate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thresholds over first 90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A · FORECASTING &amp; ZONE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Per-feeder demand forecasting with calibrated confidence bands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Model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Prophet-compatible seasonal baseline + trend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Trained 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meter readings → feeder-level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24 hours, refreshed hourly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forecast points (96 / day)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Confidence bands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P10 / P90 native uncertainty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Regressors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IN holidays, KA holidays, Mar–Jun AC flag, t–7d / t–14d lags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0F172A"/>
                          </a:solidFill>
                          <a:latin typeface="Calibri"/>
                        </a:rPr>
                        <a:t>Production swap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1-day to Facebook Prophet (schema-compatible)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Zone risk classification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9164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691640"/>
            <a:ext cx="109728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178308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≥ 88% of historical 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9456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Alert section engineer · pre-emptive shedding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5176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651760"/>
            <a:ext cx="109728" cy="86868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7432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74320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75–88% of historical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15468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Monitor · prepare contingency dispatch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61188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611880"/>
            <a:ext cx="109728" cy="8686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70332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5803D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703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&lt; 75% of historical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11480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Normal operations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11091672" cy="3657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73168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 evaluation targets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516636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91840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hour-of-day historical average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persistence (t = t-1)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vs seasonal naive (t = t-7d)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P10–P90 empirical coverage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95% of actuals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B · ANOMALY &amp; THEFT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4-layer detection — each layer catches a different theft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DT Energy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DT input − Σ consumer 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&gt; 8% imbalance, 3+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Hook-bypass · large-scale tampering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4992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3672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Statistical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90-day rolling z-score by hour/day/month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|Z| &gt; 3.0, 4+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Sudden meter drop or spike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1344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Peer Group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Same DT + same consumer category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−2.5σ vs peer median, 5+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Distinguishes theft from seasonal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7696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997696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0576" y="14173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1490472"/>
            <a:ext cx="1783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Isolation Forest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1031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23317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Multivariate features · contamination 0.03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288036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310896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Retrained monthly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352044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0576" y="3703320"/>
            <a:ext cx="2331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Subtle pattern shifts, PF drops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160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22452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L3 FEATURE VECTOR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448056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kWh mean  ·  peak-to-mean ratio  ·  night-consumption ratio  ·  trend slope  ·  power factor  ·  zero-reading rate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09"/>
                </a:solidFill>
                <a:latin typeface="Calibri"/>
              </a:rPr>
              <a:t>Why four layers?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486400"/>
            <a:ext cx="107899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single anomaly signal has too many false positives at utility scale.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Requiring independent multi-layer agreement converts noisy signals into decision-grade leads — this is the core innovation.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AGGREGATION &amp;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Confidence Engine + Behavioural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Confidence Engine — weighted aggregation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Aggregate DT signal — less specific to a meter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Individual historical baseline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Peer-relative — strongest theft differentiator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Multivariate pattern detection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365760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91440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≥ 0.85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Immediate inspection · top of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91440" cy="50292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3434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0.65 – 0.85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3434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 within 7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4632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9144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3A8A"/>
                </a:solidFill>
                <a:latin typeface="Calibri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0.50 – 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93776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Monitor 7 more days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4068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40680"/>
            <a:ext cx="9144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4748B"/>
                </a:solidFill>
                <a:latin typeface="Calibri"/>
              </a:rPr>
              <a:t>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53212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&lt; 0.50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5321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Behavioural classifier — pattern → operational interpretation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92240" y="1691640"/>
          <a:ext cx="5166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3756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Code output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Operational interpretation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sudden_drop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Hook Bypass candidate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flatline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Stop / disconnected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erratic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Tampering (gradual)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spike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fault / back-feed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normal_pattern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Legitimate variation / vacant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92240" y="4297680"/>
            <a:ext cx="5166360" cy="20116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43484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LEAKAGE QUANTIFIER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0916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Rs./month per flagged meter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21208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leakage_Rs = (peer_median_kWh − actual_billed_kWh) × tariff_slab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715000"/>
            <a:ext cx="4937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Tariff slab from MDM consumer master.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Queue is sorted by rupee value, not raw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RISK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Data quality, noise suppression, and a closed feedback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Missing-reading policy (deterministic, auditable)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Gap duration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Handling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Under 1 hour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Forward-fill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1 to 6 hours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Linear interpolation, excluded from scoring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Over 6 hours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Scoring suspended for that meter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Missing + voltage present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Raised as Meter Stop flag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Seasonality &amp; false-positive mitigation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69164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5204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Summer AC / monsoon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Explicit regressors in forecast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Karnataka holidays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Named effects in Prophet model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Appliance spikes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4-slot minimum (L1) · daily aggregation (L2/L3)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 compare → multi-layer confidence → feedback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160520"/>
            <a:ext cx="11091672" cy="21488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FEEDBACK LOOP — closed-loop recalibration over first 90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800600"/>
            <a:ext cx="91440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Confirmed Theft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confirmed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4800600"/>
            <a:ext cx="9144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False Positive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tightened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7064" y="4800600"/>
            <a:ext cx="91440" cy="137160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Equipment 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Reroute to maintenance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51976" y="4800600"/>
            <a:ext cx="9144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4937760"/>
            <a:ext cx="2240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Vacant Premises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5349240"/>
            <a:ext cx="22402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Add to allowlist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LIVE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Performance against synthetic ground truth — live in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51760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78 %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Precision @ 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68112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8112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85 %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Recall (hook bypass)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85%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4464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0.81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F1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Harmonic 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696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00816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00816" y="1417320"/>
            <a:ext cx="5029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1554480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6.2 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21488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Mean detection lag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377440"/>
            <a:ext cx="2697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&lt; 10 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Threshold sweep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48640" y="33375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0.5  (default)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Confusion matrix @ default threshold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492240" y="3337560"/>
          <a:ext cx="5166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Pred. Theft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Pred. Normal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F172A"/>
                          </a:solidFill>
                          <a:latin typeface="Calibri"/>
                        </a:rPr>
                        <a:t>Actual Theft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17  (TP)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  (FN)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F172A"/>
                          </a:solidFill>
                          <a:latin typeface="Calibri"/>
                        </a:rPr>
                        <a:t>Actual Normal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  (FP)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21  (TN)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492240" y="5120640"/>
            <a:ext cx="51663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5120640"/>
            <a:ext cx="9144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521208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5440680"/>
            <a:ext cx="48463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GET /api/v1/metrics/evaluation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All numbers above are computed live by the running prototype's evaluation harness.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Seven modules, all live in the submitted Docker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64992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4992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1344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97696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7696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3703320"/>
            <a:ext cx="269748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8521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38328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6355080"/>
            <a:ext cx="11091672" cy="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600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01-dash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188720"/>
            <a:ext cx="2810179" cy="1585569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228600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2810865"/>
            <a:ext cx="2718739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3162287"/>
            <a:ext cx="2718739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KPIs · 6 charts · feeder forecast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3371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2-inspection-que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3371" y="1188720"/>
            <a:ext cx="2810179" cy="1585569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3203371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49091" y="2810865"/>
            <a:ext cx="2718739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Inspection Queue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9091" y="3162287"/>
            <a:ext cx="2718739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Ranked by Rs. × confidence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8143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03-meter-looku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8143" y="1188720"/>
            <a:ext cx="2810179" cy="1585569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6178143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23863" y="2810865"/>
            <a:ext cx="2718739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Meter Lookup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3863" y="3162287"/>
            <a:ext cx="2718739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4-layer drill-down · rule trace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52915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04-feedback-for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52915" y="1188720"/>
            <a:ext cx="2810179" cy="1585569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152915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98635" y="2810865"/>
            <a:ext cx="2718739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Feedback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98635" y="3162287"/>
            <a:ext cx="2718739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Inspector outcome · live refresh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05-zone-ma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600" y="3685032"/>
            <a:ext cx="3801770" cy="1585569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228600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5307177"/>
            <a:ext cx="3710330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Zone Risk Map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5658599"/>
            <a:ext cx="3710330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Bengaluru Leaflet heatmap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94962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06-evaluation-metric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4962" y="3685032"/>
            <a:ext cx="3801770" cy="1585569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194962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0682" y="5307177"/>
            <a:ext cx="3710330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Eval Metrics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40682" y="5658599"/>
            <a:ext cx="3710330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Live P=78% · R=85% · F1=0.81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61324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07-roi-calculato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61324" y="3685032"/>
            <a:ext cx="3801770" cy="1585569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8161324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07044" y="5307177"/>
            <a:ext cx="3710330" cy="4103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00">
                <a:solidFill>
                  <a:srgbClr val="FFFFFF"/>
                </a:solidFill>
              </a:rPr>
              <a:t>ROI Calculator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07044" y="5658599"/>
            <a:ext cx="3710330" cy="35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650">
                <a:solidFill>
                  <a:srgbClr val="BAE6FD"/>
                </a:solidFill>
              </a:rPr>
              <a:t>Interactive sliders · 5-yr NPV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274320" y="9144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TECH STACK &amp; PRODUCTION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11643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BDC3C7"/>
                </a:solidFill>
              </a:rPr>
              <a:t>Prototype uses real algorithms; production swaps infra — not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853418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BDC3C7"/>
                </a:solidFill>
              </a:rPr>
              <a:t>VidyutDrishti  ·  AI for Bharat  ·  Theme 8: Smart Meter Intelligence &amp; Loss Detection (BESCOM)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020" y="6473952"/>
            <a:ext cx="341367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BDC3C7"/>
                </a:solidFill>
              </a:rPr>
              <a:t>github.com/srinidhirepala/VidyutDrishti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51560"/>
            <a:ext cx="12191695" cy="5806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152144"/>
            <a:ext cx="5739231" cy="37947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115568"/>
            <a:ext cx="5739231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115568"/>
            <a:ext cx="5739231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" y="1216152"/>
            <a:ext cx="13716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25272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750">
                <a:solidFill>
                  <a:srgbClr val="1E40AF"/>
                </a:solidFill>
              </a:rPr>
              <a:t>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1170432"/>
            <a:ext cx="41481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Prototype Stack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1572768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1572768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160934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160934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Python 3.11  /  TypeScript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3616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1842516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1842516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187909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1368" y="187909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FastAPI + Pydantic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10591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112264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2112264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214884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214884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TimescaleDB  —  single node, Docker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37566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" y="2382012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2382012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241858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Forecasting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1368" y="241858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Seasonal Baseline (STL + holidays + lags)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64541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2651760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" y="2651760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2688336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Anomaly 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2688336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Isolation Forest  —  scikit-learn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915158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6032" y="2921508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56032" y="2921508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295808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Frontend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1368" y="295808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React 18 + Vite + Recharts + Leaflet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318490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032" y="3191256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6032" y="3191256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322783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Container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01368" y="322783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Docker Compose  —  3 services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45465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032" y="3461004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032" y="3461004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349758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Auth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49758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None  (prototype scope)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" y="372440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6032" y="3730752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" y="3730752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76732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E40AF"/>
                </a:solidFill>
              </a:rPr>
              <a:t>Data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01368" y="376732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Synthetic AMI  —  259k readings, 8 DTs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99415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33007" y="1152144"/>
            <a:ext cx="5739231" cy="37947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96431" y="1115568"/>
            <a:ext cx="5739231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96431" y="1115568"/>
            <a:ext cx="5739231" cy="457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9583" y="1216152"/>
            <a:ext cx="13716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4447" y="125272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750">
                <a:solidFill>
                  <a:srgbClr val="15803D"/>
                </a:solidFill>
              </a:rPr>
              <a:t>SAME LOGIC · BETTER INFRA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4335" y="1170432"/>
            <a:ext cx="41481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Production Changes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96431" y="1572768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96431" y="1572768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87871" y="160934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Database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1767" y="160934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TimescaleDB distributed cluster (HA + replication)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96431" y="183616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96431" y="1842516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96431" y="1842516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87871" y="187909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Ingestion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41767" y="187909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Kafka / Flink  —  replaces batch polling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96431" y="210591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96431" y="2112264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96431" y="2112264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7871" y="214884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Auth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41767" y="214884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LDAP / RBAC  —  Section Eng / Inspector / Manager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96431" y="237566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96431" y="2382012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96431" y="2382012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87871" y="241858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Deployment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41767" y="241858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Kubernetes  —  BESCOM data centre or NIC cloud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96431" y="264541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96431" y="2651760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96431" y="2651760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87871" y="2688336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Monitoring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41767" y="2688336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Prometheus + Grafana + PagerDuty alerts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96431" y="2915158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96431" y="2921508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96431" y="2921508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87871" y="295808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Forecasting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41767" y="295808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Same model  —  retrained weekly on real AMI data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96431" y="318490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96431" y="3191256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196431" y="3191256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87871" y="322783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ML Retrain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41767" y="322783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Isolation Forest  —  auto-retrained on inspector feedback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96431" y="345465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96431" y="3461004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196431" y="3461004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87871" y="349758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AMI Link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41767" y="349758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Read-only REST/SFTP from real BESCOM AMI/MDM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96431" y="372440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96431" y="3730752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96431" y="3730752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87871" y="376732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800">
                <a:solidFill>
                  <a:srgbClr val="15803D"/>
                </a:solidFill>
              </a:rPr>
              <a:t>Scale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41767" y="376732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1E293B"/>
                </a:solidFill>
              </a:rPr>
              <a:t>8.5M consumers  ·  50K DTs  ·  ~10M readings/day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96431" y="399415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6032" y="5074920"/>
            <a:ext cx="11679631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A162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4048" y="5138928"/>
            <a:ext cx="11423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A16207"/>
                </a:solidFill>
              </a:rPr>
              <a:t>✦  Detection &amp; forecasting algorithms are IDENTICAL in prototype and production  —  only infrastructure and data sources change.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REAL-WORLD DEPLOYABILITY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Built for Day-1 deployment at BESCOM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Read-only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100% read. Zero writes to AMI/SCADA/MDM/billing.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2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No consumer PII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Operates on meter_id + kWh + voltage + PF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5904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1481328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8824" y="1371600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Auditable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1645920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Deterministic rule trace per flag. Audit log.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Inspector in the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System recommends; inspector decides. No auto-disconnect.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53712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CEA-compliant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6632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Reading-processing rules align with metering regulations.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75904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23774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8824" y="2267712"/>
            <a:ext cx="2926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On-premise deployable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8824" y="2542032"/>
            <a:ext cx="2926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Docker Compose. Runs on BESCOM data centre.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Calibri"/>
              </a:rPr>
              <a:t>4-phase build plan from the submitted idea — all phases shipped in this prototype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Ingestion · TimescaleDB · synthetic data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(8 DTs · 60+ meters · 180 days · 3 theft scenarios)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8328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Seasonal Baseline Forecasting · holidays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seasonal features · zone risk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6616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6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L0–L3 layers · confidence engine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behavioural classifier · queue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256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5256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5440" y="3794760"/>
            <a:ext cx="1097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379476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UI &amp; Ops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35440" y="434340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Dashboards · feedback loop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Docker Compose · E2E tests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23544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35440" y="5120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SCALABILITY &amp; FINANCIAL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455 Cr / year recovery at BESCOM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455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Projected annual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&lt; 1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Platform payback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716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16459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1,669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2402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5-year NPV (10% discount)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Assumptions (live in /api/v1/metrics/roi)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33756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BESCOM consumers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8,500,000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Active-theft prevalence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3% (industry avg)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Theft population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255,000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Detection rate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Avg monthly leakage / case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3,500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Inspector cost saved vs random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Replication potential — same architecture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492240" y="333756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1005840"/>
                <a:gridCol w="14173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DISCOM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Consumers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Recovery / yr</a:t>
                      </a:r>
                    </a:p>
                  </a:txBody>
                  <a:tcPr marL="91440" marR="91440" marT="45720" marB="45720"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TANGEDCO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Tamil Nadu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 M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3,200 Cr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MSEDCL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Maharashtra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28 M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2,900 Cr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UPPCL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Uttar Pradesh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33 M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3,500 Cr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0F172A"/>
                          </a:solidFill>
                          <a:latin typeface="Calibri"/>
                        </a:rPr>
                        <a:t>All-India DISCOMs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250 M+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25,000+ Cr</a:t>
                      </a:r>
                    </a:p>
                  </a:txBody>
                  <a:tcPr marL="91440" marR="9144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492240" y="5669280"/>
            <a:ext cx="5166360" cy="640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57607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TAM: Rs. 25,000+ Cr addressable across Indian DISCOMs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SUBMISSION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How we map to each evaluation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09728" cy="7772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0876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35331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Problem Relevance &amp;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66420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BESCOM-specific Rs. 1,800 Cr leakage · 3 named operational failures · conservative 1.5% theft prevalence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109728" cy="7772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37744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37744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22199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Technical Implementation &amp; Innovation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53288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4-layer detection · Seasonal Baseline Forecasting · weighted confidence · 5-class classifier · live P=78%, R=85%, F1=0.81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017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109728" cy="777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24612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24612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09067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Real-World Deployability &amp; Govt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40156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Read-only · no PII · CEA-compliant · 4-phase build all shipped · Docker for BESCOM data centre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109728" cy="7772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11480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95935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Demo Quality &amp;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27024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7 working modules · 7 live API endpoints · 5-min jury verification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75488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754880"/>
            <a:ext cx="109728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98348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828032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Scalability &amp; Long-Term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138928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Rs. 455 Cr/yr recovery · 5-yr NPV Rs. 1,669 Cr · Rs. 25,000 Cr all-India TAM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2356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641848"/>
            <a:ext cx="3200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IN 5 MIN  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641848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Consolas"/>
              </a:rPr>
              <a:t>git clone … &amp;&amp; docker compose up   →   localhost:5173 (UI)  ·  localhost:8000/docs (API)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8932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07608"/>
            <a:ext cx="320040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▶  WATCH DEMO VIDEO 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6007608"/>
            <a:ext cx="8412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https://drive.google.com/file/d/1LOgpMxeu2LzAK52B-go-8gtAn6rHe1Eu/view?usp=sharing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3392424"/>
            <a:ext cx="9448495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54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606040"/>
            <a:ext cx="121916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600">
                <a:solidFill>
                  <a:srgbClr val="BDC3C7"/>
                </a:solidFill>
              </a:rPr>
              <a:t>VidyutDrishti  —  AT&amp;C Loss Recovery Intelligence for BESCOM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20724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24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FFFFFF"/>
                </a:solidFill>
              </a:rPr>
              <a:t>DEMO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4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ECF0F1"/>
                </a:solidFill>
              </a:rPr>
              <a:t>Watch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4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700">
                <a:solidFill>
                  <a:srgbClr val="F1C40F"/>
                </a:solidFill>
              </a:rPr>
              <a:t>drive.google.com/...1LOgpMxeu2...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156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56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56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ECF0F1"/>
                </a:solidFill>
              </a:rPr>
              <a:t>Explore the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56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700">
                <a:solidFill>
                  <a:srgbClr val="F1C40F"/>
                </a:solidFill>
              </a:rPr>
              <a:t>github.com/srinidhirepala/VidyutDrishti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588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88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FFFFFF"/>
                </a:solidFill>
              </a:rPr>
              <a:t>RUN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8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ECF0F1"/>
                </a:solidFill>
              </a:rPr>
              <a:t>Verify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88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700">
                <a:solidFill>
                  <a:srgbClr val="F1C40F"/>
                </a:solidFill>
              </a:rPr>
              <a:t>docker compose up → localhost:5173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577840"/>
            <a:ext cx="12191695" cy="822960"/>
          </a:xfrm>
          <a:prstGeom prst="rect">
            <a:avLst/>
          </a:prstGeom>
          <a:solidFill>
            <a:srgbClr val="1E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1C40F"/>
                </a:solidFill>
              </a:rPr>
              <a:t>4 Layers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BDC3C7"/>
                </a:solidFill>
              </a:rPr>
              <a:t>L0 → L1 → L2 → 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8339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1C40F"/>
                </a:solidFill>
              </a:rPr>
              <a:t>7 Modules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339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BDC3C7"/>
                </a:solidFill>
              </a:rPr>
              <a:t>All live in Docker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678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1C40F"/>
                </a:solidFill>
              </a:rPr>
              <a:t>8 APIs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678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BDC3C7"/>
                </a:solidFill>
              </a:rPr>
              <a:t>FastAPI + Swagger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017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1C40F"/>
                </a:solidFill>
              </a:rPr>
              <a:t>Rs. 455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017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BDC3C7"/>
                </a:solidFill>
              </a:rPr>
              <a:t>BESCOM-scale recovery/yr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3356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1C40F"/>
                </a:solidFill>
              </a:rPr>
              <a:t>P=78% R=85%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800">
                <a:solidFill>
                  <a:srgbClr val="BDC3C7"/>
                </a:solidFill>
              </a:rPr>
              <a:t>Live eval metrics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