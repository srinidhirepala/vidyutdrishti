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5" r:id="rId12"/>
    <p:sldId id="266" r:id="rId13"/>
    <p:sldId id="267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-56" y="-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Parallelogram 2"/>
          <p:cNvSpPr/>
          <p:nvPr/>
        </p:nvSpPr>
        <p:spPr>
          <a:xfrm>
            <a:off x="7772400" y="-914400"/>
            <a:ext cx="6400800" cy="9144000"/>
          </a:xfrm>
          <a:prstGeom prst="parallelogram">
            <a:avLst>
              <a:gd name="adj" fmla="val 40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640080"/>
            <a:ext cx="457200" cy="45720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80160" y="640080"/>
            <a:ext cx="54864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VIDYUTDRISHTI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91440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AI for Bharat  ·  Theme 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96012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1">
                <a:solidFill>
                  <a:srgbClr val="FFFFFF"/>
                </a:solidFill>
                <a:latin typeface="Calibri"/>
              </a:rPr>
              <a:t>VidyutDrishti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20040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 dirty="0">
                <a:solidFill>
                  <a:srgbClr val="B45309"/>
                </a:solidFill>
                <a:latin typeface="Calibri"/>
              </a:rPr>
              <a:t>AT&amp;C Loss Recovery Intelligence System for BESCOM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023360"/>
            <a:ext cx="1005840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E2E8F0"/>
                </a:solidFill>
                <a:latin typeface="Calibri"/>
              </a:rPr>
              <a:t>A read-only software intelligence layer that turns BESCOM's existing</a:t>
            </a:r>
          </a:p>
          <a:p>
            <a:pPr algn="l">
              <a:lnSpc>
                <a:spcPct val="130000"/>
              </a:lnSpc>
            </a:pPr>
            <a:r>
              <a:rPr sz="1500" b="0">
                <a:solidFill>
                  <a:srgbClr val="E2E8F0"/>
                </a:solidFill>
                <a:latin typeface="Calibri"/>
              </a:rPr>
              <a:t>smart-meter data into rupee-quantified, prioritised inspection leads.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5" y="5943600"/>
            <a:ext cx="12191695" cy="914400"/>
          </a:xfrm>
          <a:prstGeom prst="rect">
            <a:avLst/>
          </a:prstGeom>
          <a:solidFill>
            <a:srgbClr val="07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3196" y="607482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dirty="0">
                <a:solidFill>
                  <a:srgbClr val="B45309"/>
                </a:solidFill>
                <a:latin typeface="Calibri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608076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PROTOTYPE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6309360"/>
            <a:ext cx="3657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dirty="0">
                <a:solidFill>
                  <a:srgbClr val="FFFFFF"/>
                </a:solidFill>
                <a:latin typeface="Calibri"/>
              </a:rPr>
              <a:t>Live · Docker Compose · 7 modules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6080760"/>
            <a:ext cx="36576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DEMO VIDEO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309360"/>
            <a:ext cx="3931920" cy="414857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dirty="0">
                <a:solidFill>
                  <a:srgbClr val="FFFFFF"/>
                </a:solidFill>
                <a:latin typeface="Calibri"/>
                <a:hlinkClick r:id="rId2" action="ppaction://hlinksldjump"/>
              </a:rPr>
              <a:t>https://drive.google.com/file/d/1LOgpMxeu2LzAK52B-go-8gtAn6rHe1Eu/view?usp=sharing</a:t>
            </a:r>
            <a:endParaRPr sz="1100" b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365760" y="5440680"/>
            <a:ext cx="64008" cy="658368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85262" y="6303889"/>
            <a:ext cx="4103858" cy="249299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lang="en-IN" sz="1200" dirty="0" smtClean="0">
                <a:solidFill>
                  <a:srgbClr val="FFFFFF"/>
                </a:solidFill>
                <a:latin typeface="Calibri"/>
              </a:rPr>
              <a:t>Inference </a:t>
            </a:r>
            <a:r>
              <a:rPr lang="en-IN" sz="1200" dirty="0" err="1" smtClean="0">
                <a:solidFill>
                  <a:srgbClr val="FFFFFF"/>
                </a:solidFill>
                <a:latin typeface="Calibri"/>
              </a:rPr>
              <a:t>TimeOut</a:t>
            </a:r>
            <a:r>
              <a:rPr sz="1200" b="0" dirty="0" smtClean="0">
                <a:solidFill>
                  <a:srgbClr val="FFFFFF"/>
                </a:solidFill>
                <a:latin typeface="Calibri"/>
              </a:rPr>
              <a:t> · </a:t>
            </a:r>
            <a:r>
              <a:rPr lang="en-IN" sz="1200" b="0" dirty="0" smtClean="0">
                <a:solidFill>
                  <a:srgbClr val="FFFFFF"/>
                </a:solidFill>
                <a:latin typeface="Calibri"/>
              </a:rPr>
              <a:t>Asha </a:t>
            </a:r>
            <a:r>
              <a:rPr lang="en-IN" sz="1200" b="0" dirty="0" err="1" smtClean="0">
                <a:solidFill>
                  <a:srgbClr val="FFFFFF"/>
                </a:solidFill>
                <a:latin typeface="Calibri"/>
              </a:rPr>
              <a:t>Jyothi</a:t>
            </a:r>
            <a:r>
              <a:rPr lang="en-IN" sz="1200" b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lang="en-IN" sz="1200" b="0" dirty="0" err="1" smtClean="0">
                <a:solidFill>
                  <a:srgbClr val="FFFFFF"/>
                </a:solidFill>
                <a:latin typeface="Calibri"/>
              </a:rPr>
              <a:t>Boddu</a:t>
            </a:r>
            <a:r>
              <a:rPr sz="1200" b="0" dirty="0" smtClean="0">
                <a:solidFill>
                  <a:srgbClr val="FFFFFF"/>
                </a:solidFill>
                <a:latin typeface="Calibri"/>
              </a:rPr>
              <a:t> · </a:t>
            </a:r>
            <a:r>
              <a:rPr lang="en-IN" sz="1200" b="0" dirty="0" smtClean="0">
                <a:solidFill>
                  <a:srgbClr val="FFFFFF"/>
                </a:solidFill>
                <a:latin typeface="Calibri"/>
              </a:rPr>
              <a:t>Sai </a:t>
            </a:r>
            <a:r>
              <a:rPr lang="en-IN" sz="1200" b="0" dirty="0" err="1" smtClean="0">
                <a:solidFill>
                  <a:srgbClr val="FFFFFF"/>
                </a:solidFill>
                <a:latin typeface="Calibri"/>
              </a:rPr>
              <a:t>Srinidhi</a:t>
            </a:r>
            <a:r>
              <a:rPr lang="en-IN" sz="1200" b="0" dirty="0" smtClean="0">
                <a:solidFill>
                  <a:srgbClr val="FFFFFF"/>
                </a:solidFill>
                <a:latin typeface="Calibri"/>
              </a:rPr>
              <a:t> </a:t>
            </a:r>
            <a:r>
              <a:rPr lang="en-IN" sz="1200" b="0" dirty="0" err="1" smtClean="0">
                <a:solidFill>
                  <a:srgbClr val="FFFFFF"/>
                </a:solidFill>
                <a:latin typeface="Calibri"/>
              </a:rPr>
              <a:t>Repala</a:t>
            </a:r>
            <a:endParaRPr sz="1200" b="0" dirty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BESCOM loses Rs. 1,800 Cr a year. The data to stop it already exists.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77240" y="150876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8.5 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0312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Consumers across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Bengaluru + 6 districts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4992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364992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592" y="150876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17 %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3592" y="210312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Current AT&amp;C loss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(national avg ~16%)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1344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181344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50876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Rs. 1,800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210312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Estimated annual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revenue leakage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97696" y="1371600"/>
            <a:ext cx="2697480" cy="1280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8997696" y="1371600"/>
            <a:ext cx="73152" cy="128016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226296" y="150876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15 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26296" y="2103120"/>
            <a:ext cx="269748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Smart-meter granularity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already collected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F172A"/>
                </a:solidFill>
                <a:latin typeface="Calibri"/>
              </a:rPr>
              <a:t>Three operational failures drive the leakage: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77724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3630168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3611880"/>
            <a:ext cx="2697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top-down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loss attribution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526280"/>
            <a:ext cx="324612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Section-level AT&amp;C is known; DT and meter-level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attribution is not. Losses visible but not actionable.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8912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461772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17720" y="3630168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03520" y="3611880"/>
            <a:ext cx="2697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peer-aware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detection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4526280"/>
            <a:ext cx="324612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 40% June drop looks identical for AC removal vs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a hook-bypass — neither inference is defensible.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0" y="3383280"/>
            <a:ext cx="3703320" cy="2194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8458200" y="3611880"/>
            <a:ext cx="502920" cy="502920"/>
          </a:xfrm>
          <a:prstGeom prst="ellipse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458200" y="3630168"/>
            <a:ext cx="502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0" y="3611880"/>
            <a:ext cx="2697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No inspection</a:t>
            </a:r>
          </a:p>
          <a:p>
            <a:pPr algn="l">
              <a:lnSpc>
                <a:spcPct val="110000"/>
              </a:lnSpc>
            </a:pPr>
            <a:r>
              <a:rPr sz="1500" b="1">
                <a:solidFill>
                  <a:srgbClr val="0B2A5B"/>
                </a:solidFill>
                <a:latin typeface="Calibri"/>
              </a:rPr>
              <a:t>ROI prioritisation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503920" y="4526280"/>
            <a:ext cx="3246120" cy="10058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Rs. 500/mo and Rs. 8,000/mo cases share queue priority.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334155"/>
                </a:solidFill>
                <a:latin typeface="Calibri"/>
              </a:rPr>
              <a:t>Field labour wasted on low-recovery cases.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8640" y="5760720"/>
            <a:ext cx="73152" cy="5486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58521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F172A"/>
                </a:solidFill>
                <a:latin typeface="Calibri"/>
              </a:rPr>
              <a:t>Every 1% reduction in BESCOM's AT&amp;C loss = Rs. 100 Cr recovered annually.  Tampered meters today run 6–12 months undetected.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A read-only intelligence layer above BESCOM's existing AMI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280160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51560" y="1280160"/>
            <a:ext cx="10058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Smart Meters (existing AMI · 15-min intervals)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89320" y="1783080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51560" y="1947672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1947672"/>
            <a:ext cx="10058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TimescaleDB · time-series store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5989320" y="2450592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1560" y="2615184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2615184"/>
            <a:ext cx="10058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Part A: Feeder Forecast + Zone Risk    |    Part B: 4-Layer Detection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89320" y="3118104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1560" y="3282696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51560" y="3282696"/>
            <a:ext cx="10058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Confidence Engine + Behavioural Classifier + Leakage Quantifier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5989320" y="3785616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1560" y="3950208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3950208"/>
            <a:ext cx="10058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Ranked Inspection Queue (sorted by Rs. × confidence)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89320" y="4453128"/>
            <a:ext cx="182880" cy="164592"/>
          </a:xfrm>
          <a:prstGeom prst="down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51560" y="4617720"/>
            <a:ext cx="10058400" cy="502920"/>
          </a:xfrm>
          <a:prstGeom prst="roundRect">
            <a:avLst>
              <a:gd name="adj" fmla="val 4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51560" y="4617720"/>
            <a:ext cx="10058400" cy="5029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Calibri"/>
              </a:rPr>
              <a:t>Field Inspector  →  Outcome  →  90-day Feedback Loop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5577840"/>
            <a:ext cx="34290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Read-only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852160"/>
            <a:ext cx="3429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Zero writes to AMI/SCADA/MDM/billing.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Integration risk = 0.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38912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617720" y="5577840"/>
            <a:ext cx="34290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Deterministic &amp; auditable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17720" y="5852160"/>
            <a:ext cx="3429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Every flag has a rule trace.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No black-box billing decisions.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0" y="5486400"/>
            <a:ext cx="3703320" cy="86868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229600" y="5486400"/>
            <a:ext cx="73152" cy="8686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58200" y="5577840"/>
            <a:ext cx="34290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Self-improving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58200" y="5852160"/>
            <a:ext cx="342900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Inspector outcomes recalibrate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thresholds over first 90 days.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PART A · FORECASTING &amp; ZONE RISK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Per-feeder demand forecasting with calibrated confidence bands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04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Model specification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7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3749039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Prophet-compatible seasonal baseline + trend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Trained 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15-min meter readings → feeder-level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24 hours, refreshed hourly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Resolution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15-min forecast points (96 / day)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Confidence bands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P10 / P90 native uncertainty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Regressors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IN holidays, KA holidays, Mar–Jun AC flag, t–7d / t–14d lags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0F172A"/>
                          </a:solidFill>
                          <a:latin typeface="Calibri"/>
                        </a:rPr>
                        <a:t>Production swap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solidFill>
                            <a:srgbClr val="0F172A"/>
                          </a:solidFill>
                          <a:latin typeface="Calibri"/>
                        </a:rPr>
                        <a:t>1-day to Facebook Prophet (schema-compatible)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Zone risk classification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69164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92240" y="1691640"/>
            <a:ext cx="109728" cy="86868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20840" y="1783080"/>
            <a:ext cx="1463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B91C1C"/>
                </a:solidFill>
                <a:latin typeface="Calibri"/>
              </a:rPr>
              <a:t>HIGH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1783080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≥ 88% of historical max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194560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Alert section engineer · pre-emptive shedding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92240" y="265176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92240" y="2651760"/>
            <a:ext cx="109728" cy="86868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720840" y="2743200"/>
            <a:ext cx="1463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16A07"/>
                </a:solidFill>
                <a:latin typeface="Calibri"/>
              </a:rPr>
              <a:t>MEDIUM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2743200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75–88% of historical max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20840" y="3154680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Monitor · prepare contingency dispatch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3611880"/>
            <a:ext cx="516636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92240" y="3611880"/>
            <a:ext cx="109728" cy="86868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20840" y="3703320"/>
            <a:ext cx="146304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5803D"/>
                </a:solidFill>
                <a:latin typeface="Calibri"/>
              </a:rPr>
              <a:t>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83879" y="3703320"/>
            <a:ext cx="3383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alibri"/>
              </a:rPr>
              <a:t>Predicted peak &lt; 75% of historical max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4114800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Action: Normal operations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754880"/>
            <a:ext cx="11091672" cy="36576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31520" y="4773168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Forecast evaluation targets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48640" y="5166360"/>
          <a:ext cx="11064240" cy="121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0"/>
                <a:gridCol w="3291840"/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Benchmark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vs hour-of-day historical average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vs persistence (t = t-1)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vs seasonal naive (t = t-7d)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15% lower RMSE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P10–P90 empirical coverage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≥ 95% of actuals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PART B · ANOMALY &amp; THEFT DETECTION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4-layer detection — each layer catches a different theft pattern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05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548640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417320"/>
            <a:ext cx="548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1490472"/>
            <a:ext cx="1783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DT Energy Balance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10312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3317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DT input − Σ consumer 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108960"/>
            <a:ext cx="2331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&gt; 8% imbalance, 3+ days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52044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Hook-bypass · large-scale tampering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64992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3364992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547872" y="1417320"/>
            <a:ext cx="548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33672" y="1490472"/>
            <a:ext cx="1783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Statistical Baseline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7872" y="210312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23317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90-day rolling z-score by hour/day/month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47872" y="288036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7872" y="3108960"/>
            <a:ext cx="2331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|Z| &gt; 3.0, 4+ slots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47872" y="352044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7872" y="37033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Sudden meter drop or spike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81344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6181344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64224" y="1417320"/>
            <a:ext cx="548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1490472"/>
            <a:ext cx="1783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Peer Group Comparison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210312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64224" y="23317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Same DT + same consumer category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88036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3108960"/>
            <a:ext cx="2331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−2.5σ vs peer median, 5+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352044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37033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Distinguishes theft from seasonal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97696" y="1325880"/>
            <a:ext cx="2697480" cy="2697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ounded Rectangle 39"/>
          <p:cNvSpPr/>
          <p:nvPr/>
        </p:nvSpPr>
        <p:spPr>
          <a:xfrm>
            <a:off x="8997696" y="1325880"/>
            <a:ext cx="2697480" cy="640080"/>
          </a:xfrm>
          <a:prstGeom prst="roundRect">
            <a:avLst>
              <a:gd name="adj" fmla="val 4000"/>
            </a:avLst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9180576" y="1417320"/>
            <a:ext cx="54864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Calibri"/>
              </a:rPr>
              <a:t>L3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1490472"/>
            <a:ext cx="1783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Isolation Forest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80576" y="210312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METHOD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80576" y="23317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0F172A"/>
                </a:solidFill>
                <a:latin typeface="Calibri"/>
              </a:rPr>
              <a:t>Multivariate features · contamination 0.03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180576" y="288036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THRESHOLD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80576" y="3108960"/>
            <a:ext cx="2331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Retrained monthly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0576" y="3520440"/>
            <a:ext cx="2331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64748B"/>
                </a:solidFill>
                <a:latin typeface="Calibri"/>
              </a:rPr>
              <a:t>CATCHES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0576" y="3703320"/>
            <a:ext cx="23317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Subtle pattern shifts, PF drops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416052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4224528"/>
            <a:ext cx="2743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L3 FEATURE VECTOR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" y="4480560"/>
            <a:ext cx="1078992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0F172A"/>
                </a:solidFill>
                <a:latin typeface="Consolas"/>
              </a:rPr>
              <a:t>kWh mean  ·  peak-to-mean ratio  ·  night-consumption ratio  ·  trend slope  ·  power factor  ·  zero-reading rate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120640"/>
            <a:ext cx="11091672" cy="118872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77240" y="5212080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B45309"/>
                </a:solidFill>
                <a:latin typeface="Calibri"/>
              </a:rPr>
              <a:t>Why four layers?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486400"/>
            <a:ext cx="1078992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A single anomaly signal has too many false positives at utility scale.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Calibri"/>
              </a:rPr>
              <a:t>Requiring independent multi-layer agreement converts noisy signals into decision-grade leads — this is the core innovation.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AGGREGATION &amp; CLASSIFICATION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Confidence Engine + Behavioural Classifier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06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Confidence Engine — weighted aggregation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2960"/>
                <a:gridCol w="1005840"/>
                <a:gridCol w="384048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Weight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Rationale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L0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Aggregate DT signal — less specific to a meter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L1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Individual historical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L2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Peer-relative — strongest theft differentiator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L3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Multivariate pattern detection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548640" y="365760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91440" cy="50292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40"/>
            <a:ext cx="1188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91C1C"/>
                </a:solidFill>
                <a:latin typeface="Calibri"/>
              </a:rPr>
              <a:t>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374904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≥ 0.85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3749040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Immediate inspection · top of queue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4251960"/>
            <a:ext cx="91440" cy="50292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343400"/>
            <a:ext cx="1188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A16A07"/>
                </a:solidFill>
                <a:latin typeface="Calibri"/>
              </a:rPr>
              <a:t>MEDIUM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20240" y="434340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0.65 – 0.85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343400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Inspect within 7 days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4632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4846320"/>
            <a:ext cx="91440" cy="50292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77240" y="4937760"/>
            <a:ext cx="1188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E3A8A"/>
                </a:solidFill>
                <a:latin typeface="Calibri"/>
              </a:rPr>
              <a:t>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493776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0.50 – 0.65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4937760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Monitor 7 more days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40680"/>
            <a:ext cx="5669280" cy="502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548640" y="5440680"/>
            <a:ext cx="91440" cy="50292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11887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64748B"/>
                </a:solidFill>
                <a:latin typeface="Calibri"/>
              </a:rPr>
              <a:t>NORMAL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53212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F172A"/>
                </a:solidFill>
                <a:latin typeface="Consolas"/>
              </a:rPr>
              <a:t>&lt; 0.50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5532120"/>
            <a:ext cx="30175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No action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Behavioural classifier — pattern → operational interpretation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492240" y="1691640"/>
          <a:ext cx="51663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337560"/>
              </a:tblGrid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Code output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Operational interpretation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sudden_drop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Hook Bypass candidate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flatline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Stop / disconnected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erratic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Tampering (gradual)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spike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Meter fault / back-feed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normal_pattern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Legitimate variation / vacant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92240" y="4297680"/>
            <a:ext cx="5166360" cy="201168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75120" y="4434840"/>
            <a:ext cx="49377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LEAKAGE QUANTIFIER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0" y="470916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Rs./month per flagged meter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5120" y="5212080"/>
            <a:ext cx="493776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Consolas"/>
              </a:rPr>
              <a:t>leakage_Rs = (peer_median_kWh − actual_billed_kWh) × tariff_slab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75120" y="5715000"/>
            <a:ext cx="493776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Tariff slab from MDM consumer master.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CBD5E1"/>
                </a:solidFill>
                <a:latin typeface="Calibri"/>
              </a:rPr>
              <a:t>Queue is sorted by rupee value, not raw confidence.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RISK HANDLING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Data quality, noise suppression, and a closed feedback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07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Missing-reading policy (deterministic, auditable)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4747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Gap duration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Handling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Under 1 hour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Forward-fill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1 to 6 hours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Linear interpolation, excluded from scoring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Over 6 hours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Scoring suspended for that meter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Missing + voltage present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Raised as Meter Stop flag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92240" y="128016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Seasonality &amp; false-positive mitigation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92240" y="1691640"/>
          <a:ext cx="5166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52044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Mitigation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Summer AC / monsoon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Explicit regressors in forecast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Karnataka holidays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Named effects in Prophet model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Appliance spikes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4-slot minimum (L1) · daily aggregation (L2/L3)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False positives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Peer compare → multi-layer confidence → feedback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48640" y="4160520"/>
            <a:ext cx="11091672" cy="21488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40" y="4297680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FEEDBACK LOOP — closed-loop recalibration over first 90 days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777240" y="4800600"/>
            <a:ext cx="91440" cy="137160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5840" y="4937760"/>
            <a:ext cx="22402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Confirmed Theft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349240"/>
            <a:ext cx="22402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 confirmed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02152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502152" y="4800600"/>
            <a:ext cx="91440" cy="137160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30752" y="4937760"/>
            <a:ext cx="22402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False Positive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5349240"/>
            <a:ext cx="22402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Threshold tightened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27064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227064" y="4800600"/>
            <a:ext cx="91440" cy="1371600"/>
          </a:xfrm>
          <a:prstGeom prst="rect">
            <a:avLst/>
          </a:prstGeom>
          <a:solidFill>
            <a:srgbClr val="A16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55664" y="4937760"/>
            <a:ext cx="22402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Equipment Fault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5664" y="5349240"/>
            <a:ext cx="22402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Reroute to maintenance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51976" y="4800600"/>
            <a:ext cx="26060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8951976" y="4800600"/>
            <a:ext cx="91440" cy="137160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180576" y="4937760"/>
            <a:ext cx="22402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Vacant Premises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0576" y="5349240"/>
            <a:ext cx="2240280" cy="7772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Add to allowlist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LIVE EVALUATION 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Performance against synthetic ground truth — live in the prototype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08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651760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651760" y="1417320"/>
            <a:ext cx="50292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55448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78 %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21488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Precision @ HIGH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3774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≥ 70%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64992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5468112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468112" y="1417320"/>
            <a:ext cx="50292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3592" y="155448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85 %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2" y="21488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Recall (hook bypass)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93592" y="23774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≥ 85%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1344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8284464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84464" y="1417320"/>
            <a:ext cx="50292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9944" y="155448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0.81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21488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F1 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23774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Harmonic mean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97696" y="1280160"/>
            <a:ext cx="269748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11100816" y="1417320"/>
            <a:ext cx="502920" cy="22860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1100816" y="1417320"/>
            <a:ext cx="502920" cy="2286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Calibri"/>
              </a:rPr>
              <a:t>PASS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6296" y="1554480"/>
            <a:ext cx="269748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0B2A5B"/>
                </a:solidFill>
                <a:latin typeface="Calibri"/>
              </a:rPr>
              <a:t>6.2 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6296" y="21488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F172A"/>
                </a:solidFill>
                <a:latin typeface="Calibri"/>
              </a:rPr>
              <a:t>Mean detection lag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26296" y="2377440"/>
            <a:ext cx="26974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Target &lt; 10 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Threshold sweep</a:t>
            </a:r>
          </a:p>
        </p:txBody>
      </p: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48640" y="3337560"/>
          <a:ext cx="56692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371600"/>
                <a:gridCol w="1371600"/>
                <a:gridCol w="137160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Threshold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Recall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F1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0.3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0.5  (default)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78%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0.81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0.9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95%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0.61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6492240" y="29260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B2A5B"/>
                </a:solidFill>
                <a:latin typeface="Calibri"/>
              </a:rPr>
              <a:t>Confusion matrix @ default threshold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6492240" y="3337560"/>
          <a:ext cx="516636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737360"/>
                <a:gridCol w="1737360"/>
              </a:tblGrid>
              <a:tr h="54864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Pred. Theft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Pred. Normal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Calibri"/>
                        </a:rPr>
                        <a:t>Actual Theft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17  (TP)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3  (FN)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F172A"/>
                          </a:solidFill>
                          <a:latin typeface="Calibri"/>
                        </a:rPr>
                        <a:t>Actual Normal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5  (FP)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>
                          <a:solidFill>
                            <a:srgbClr val="0F172A"/>
                          </a:solidFill>
                          <a:latin typeface="Calibri"/>
                        </a:rPr>
                        <a:t>21  (TN)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37" name="Rounded Rectangle 36"/>
          <p:cNvSpPr/>
          <p:nvPr/>
        </p:nvSpPr>
        <p:spPr>
          <a:xfrm>
            <a:off x="6492240" y="5120640"/>
            <a:ext cx="5166360" cy="118872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6492240" y="5120640"/>
            <a:ext cx="91440" cy="118872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20840" y="5212080"/>
            <a:ext cx="48463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VERIFY LIVE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5440680"/>
            <a:ext cx="4846320" cy="8686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GET /api/v1/metrics/evaluation</a:t>
            </a:r>
          </a:p>
          <a:p>
            <a:pPr algn="l">
              <a:lnSpc>
                <a:spcPct val="130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All numbers above are computed live by the running prototype's evaluation harness.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WORKING 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Seven modules, all live in the submitted Docker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09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364992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64992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181344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6181344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8997696" y="1280160"/>
            <a:ext cx="26974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997696" y="31089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548640" y="3703320"/>
            <a:ext cx="2697480" cy="26060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548640" y="5852160"/>
            <a:ext cx="2697480" cy="45720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ounded Rectangle 33"/>
          <p:cNvSpPr/>
          <p:nvPr/>
        </p:nvSpPr>
        <p:spPr>
          <a:xfrm>
            <a:off x="3383280" y="3703320"/>
            <a:ext cx="4114800" cy="26060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ounded Rectangle 37"/>
          <p:cNvSpPr/>
          <p:nvPr/>
        </p:nvSpPr>
        <p:spPr>
          <a:xfrm>
            <a:off x="7589520" y="3703320"/>
            <a:ext cx="4114800" cy="26060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ounded Rectangle 41"/>
          <p:cNvSpPr/>
          <p:nvPr/>
        </p:nvSpPr>
        <p:spPr>
          <a:xfrm>
            <a:off x="548640" y="6355080"/>
            <a:ext cx="11091672" cy="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42"/>
          <p:cNvSpPr/>
          <p:nvPr/>
        </p:nvSpPr>
        <p:spPr>
          <a:xfrm>
            <a:off x="228600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28600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203371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3203371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Rectangle 52"/>
          <p:cNvSpPr/>
          <p:nvPr/>
        </p:nvSpPr>
        <p:spPr>
          <a:xfrm>
            <a:off x="6178143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178143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Rectangle 57"/>
          <p:cNvSpPr/>
          <p:nvPr/>
        </p:nvSpPr>
        <p:spPr>
          <a:xfrm>
            <a:off x="9152915" y="1188720"/>
            <a:ext cx="2810179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9152915" y="2774289"/>
            <a:ext cx="2810179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228600" y="3685032"/>
            <a:ext cx="380177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228600" y="5270601"/>
            <a:ext cx="3801770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4194962" y="3685032"/>
            <a:ext cx="380177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0" name="Rectangle 69"/>
          <p:cNvSpPr/>
          <p:nvPr/>
        </p:nvSpPr>
        <p:spPr>
          <a:xfrm>
            <a:off x="4194962" y="5270601"/>
            <a:ext cx="3801770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Rectangle 72"/>
          <p:cNvSpPr/>
          <p:nvPr/>
        </p:nvSpPr>
        <p:spPr>
          <a:xfrm>
            <a:off x="8161324" y="3685032"/>
            <a:ext cx="3801770" cy="2331720"/>
          </a:xfrm>
          <a:prstGeom prst="rect">
            <a:avLst/>
          </a:prstGeom>
          <a:solidFill>
            <a:srgbClr val="FFFFFF"/>
          </a:solidFill>
          <a:ln w="635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Rectangle 74"/>
          <p:cNvSpPr/>
          <p:nvPr/>
        </p:nvSpPr>
        <p:spPr>
          <a:xfrm>
            <a:off x="8161324" y="5270601"/>
            <a:ext cx="3801770" cy="746151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0" y="1078992"/>
            <a:ext cx="12192000" cy="5779008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219456" y="1298448"/>
            <a:ext cx="2860548" cy="2505456"/>
          </a:xfrm>
          <a:prstGeom prst="rect">
            <a:avLst/>
          </a:prstGeom>
          <a:solidFill>
            <a:srgbClr val="08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182880" y="1261872"/>
            <a:ext cx="2860548" cy="2505456"/>
          </a:xfrm>
          <a:prstGeom prst="rect">
            <a:avLst/>
          </a:prstGeom>
          <a:solidFill>
            <a:srgbClr val="FFFFFF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9" name="Picture 78" descr="01-dashboar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1261872"/>
            <a:ext cx="2860548" cy="2157984"/>
          </a:xfrm>
          <a:prstGeom prst="rect">
            <a:avLst/>
          </a:prstGeom>
        </p:spPr>
      </p:pic>
      <p:sp>
        <p:nvSpPr>
          <p:cNvPr id="80" name="Rectangle 79"/>
          <p:cNvSpPr/>
          <p:nvPr/>
        </p:nvSpPr>
        <p:spPr>
          <a:xfrm>
            <a:off x="182880" y="3419856"/>
            <a:ext cx="2860548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182880" y="3419856"/>
            <a:ext cx="4572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74320" y="3456432"/>
            <a:ext cx="27508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50">
                <a:solidFill>
                  <a:srgbClr val="FFFFFF"/>
                </a:solidFill>
              </a:rPr>
              <a:t>01  Dashboard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74320" y="3611880"/>
            <a:ext cx="27508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700">
                <a:solidFill>
                  <a:srgbClr val="93C5FD"/>
                </a:solidFill>
              </a:rPr>
              <a:t>KPIs · charts · forecast</a:t>
            </a:r>
          </a:p>
        </p:txBody>
      </p:sp>
      <p:sp>
        <p:nvSpPr>
          <p:cNvPr id="84" name="Rectangle 83"/>
          <p:cNvSpPr/>
          <p:nvPr/>
        </p:nvSpPr>
        <p:spPr>
          <a:xfrm>
            <a:off x="3208020" y="1298448"/>
            <a:ext cx="2860548" cy="2505456"/>
          </a:xfrm>
          <a:prstGeom prst="rect">
            <a:avLst/>
          </a:prstGeom>
          <a:solidFill>
            <a:srgbClr val="08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71444" y="1261872"/>
            <a:ext cx="2860548" cy="2505456"/>
          </a:xfrm>
          <a:prstGeom prst="rect">
            <a:avLst/>
          </a:prstGeom>
          <a:solidFill>
            <a:srgbClr val="FFFFFF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02-inspection-queu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171444" y="1261872"/>
            <a:ext cx="2860548" cy="2157984"/>
          </a:xfrm>
          <a:prstGeom prst="rect">
            <a:avLst/>
          </a:prstGeom>
        </p:spPr>
      </p:pic>
      <p:sp>
        <p:nvSpPr>
          <p:cNvPr id="87" name="Rectangle 86"/>
          <p:cNvSpPr/>
          <p:nvPr/>
        </p:nvSpPr>
        <p:spPr>
          <a:xfrm>
            <a:off x="3171444" y="3419856"/>
            <a:ext cx="2860548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171444" y="3419856"/>
            <a:ext cx="4572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262884" y="3456432"/>
            <a:ext cx="27508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50">
                <a:solidFill>
                  <a:srgbClr val="FFFFFF"/>
                </a:solidFill>
              </a:rPr>
              <a:t>02  Inspection Queue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262884" y="3611880"/>
            <a:ext cx="27508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700">
                <a:solidFill>
                  <a:srgbClr val="93C5FD"/>
                </a:solidFill>
              </a:rPr>
              <a:t>Rs. × confidence ranking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96584" y="1298448"/>
            <a:ext cx="2860548" cy="2505456"/>
          </a:xfrm>
          <a:prstGeom prst="rect">
            <a:avLst/>
          </a:prstGeom>
          <a:solidFill>
            <a:srgbClr val="08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6160008" y="1261872"/>
            <a:ext cx="2860548" cy="2505456"/>
          </a:xfrm>
          <a:prstGeom prst="rect">
            <a:avLst/>
          </a:prstGeom>
          <a:solidFill>
            <a:srgbClr val="FFFFFF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3" name="Picture 92" descr="03-meter-looku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0008" y="1261872"/>
            <a:ext cx="2860548" cy="2157984"/>
          </a:xfrm>
          <a:prstGeom prst="rect">
            <a:avLst/>
          </a:prstGeom>
        </p:spPr>
      </p:pic>
      <p:sp>
        <p:nvSpPr>
          <p:cNvPr id="94" name="Rectangle 93"/>
          <p:cNvSpPr/>
          <p:nvPr/>
        </p:nvSpPr>
        <p:spPr>
          <a:xfrm>
            <a:off x="6160008" y="3419856"/>
            <a:ext cx="2860548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6160008" y="3419856"/>
            <a:ext cx="4572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251448" y="3456432"/>
            <a:ext cx="27508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50">
                <a:solidFill>
                  <a:srgbClr val="FFFFFF"/>
                </a:solidFill>
              </a:rPr>
              <a:t>03  Meter Lookup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251448" y="3611880"/>
            <a:ext cx="27508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700">
                <a:solidFill>
                  <a:srgbClr val="93C5FD"/>
                </a:solidFill>
              </a:rPr>
              <a:t>4-layer drill-down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185148" y="1298448"/>
            <a:ext cx="2860548" cy="2505456"/>
          </a:xfrm>
          <a:prstGeom prst="rect">
            <a:avLst/>
          </a:prstGeom>
          <a:solidFill>
            <a:srgbClr val="08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9148572" y="1261872"/>
            <a:ext cx="2860548" cy="2505456"/>
          </a:xfrm>
          <a:prstGeom prst="rect">
            <a:avLst/>
          </a:prstGeom>
          <a:solidFill>
            <a:srgbClr val="FFFFFF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0" name="Picture 99" descr="04-feedback-form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48572" y="1261872"/>
            <a:ext cx="2860548" cy="2157984"/>
          </a:xfrm>
          <a:prstGeom prst="rect">
            <a:avLst/>
          </a:prstGeom>
        </p:spPr>
      </p:pic>
      <p:sp>
        <p:nvSpPr>
          <p:cNvPr id="101" name="Rectangle 100"/>
          <p:cNvSpPr/>
          <p:nvPr/>
        </p:nvSpPr>
        <p:spPr>
          <a:xfrm>
            <a:off x="9148572" y="3419856"/>
            <a:ext cx="2860548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9148572" y="3419856"/>
            <a:ext cx="4572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240012" y="3456432"/>
            <a:ext cx="27508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50">
                <a:solidFill>
                  <a:srgbClr val="FFFFFF"/>
                </a:solidFill>
              </a:rPr>
              <a:t>04  Feedback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240012" y="3611880"/>
            <a:ext cx="2750820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700">
                <a:solidFill>
                  <a:srgbClr val="93C5FD"/>
                </a:solidFill>
              </a:rPr>
              <a:t>Live refresh on submit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219456" y="3931920"/>
            <a:ext cx="3856736" cy="2505456"/>
          </a:xfrm>
          <a:prstGeom prst="rect">
            <a:avLst/>
          </a:prstGeom>
          <a:solidFill>
            <a:srgbClr val="08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82880" y="3895344"/>
            <a:ext cx="3856736" cy="2505456"/>
          </a:xfrm>
          <a:prstGeom prst="rect">
            <a:avLst/>
          </a:prstGeom>
          <a:solidFill>
            <a:srgbClr val="FFFFFF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7" name="Picture 106" descr="05-zone-map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3895344"/>
            <a:ext cx="3856736" cy="2157984"/>
          </a:xfrm>
          <a:prstGeom prst="rect">
            <a:avLst/>
          </a:prstGeom>
        </p:spPr>
      </p:pic>
      <p:sp>
        <p:nvSpPr>
          <p:cNvPr id="108" name="Rectangle 107"/>
          <p:cNvSpPr/>
          <p:nvPr/>
        </p:nvSpPr>
        <p:spPr>
          <a:xfrm>
            <a:off x="182880" y="6053328"/>
            <a:ext cx="3856736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82880" y="6053328"/>
            <a:ext cx="4572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74320" y="6089904"/>
            <a:ext cx="37470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50">
                <a:solidFill>
                  <a:srgbClr val="FFFFFF"/>
                </a:solidFill>
              </a:rPr>
              <a:t>05  Zone Risk Map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274320" y="6245352"/>
            <a:ext cx="3747008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700">
                <a:solidFill>
                  <a:srgbClr val="93C5FD"/>
                </a:solidFill>
              </a:rPr>
              <a:t>Bengaluru Leaflet heatmap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04208" y="3931920"/>
            <a:ext cx="3856736" cy="2505456"/>
          </a:xfrm>
          <a:prstGeom prst="rect">
            <a:avLst/>
          </a:prstGeom>
          <a:solidFill>
            <a:srgbClr val="08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167632" y="3895344"/>
            <a:ext cx="3856736" cy="2505456"/>
          </a:xfrm>
          <a:prstGeom prst="rect">
            <a:avLst/>
          </a:prstGeom>
          <a:solidFill>
            <a:srgbClr val="FFFFFF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06-evaluation-metric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167632" y="3895344"/>
            <a:ext cx="3856736" cy="2157984"/>
          </a:xfrm>
          <a:prstGeom prst="rect">
            <a:avLst/>
          </a:prstGeom>
        </p:spPr>
      </p:pic>
      <p:sp>
        <p:nvSpPr>
          <p:cNvPr id="115" name="Rectangle 114"/>
          <p:cNvSpPr/>
          <p:nvPr/>
        </p:nvSpPr>
        <p:spPr>
          <a:xfrm>
            <a:off x="4167632" y="6053328"/>
            <a:ext cx="3856736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167632" y="6053328"/>
            <a:ext cx="4572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259072" y="6089904"/>
            <a:ext cx="37470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50">
                <a:solidFill>
                  <a:srgbClr val="FFFFFF"/>
                </a:solidFill>
              </a:rPr>
              <a:t>06  Eval Metrics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59072" y="6245352"/>
            <a:ext cx="3747008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700">
                <a:solidFill>
                  <a:srgbClr val="93C5FD"/>
                </a:solidFill>
              </a:rPr>
              <a:t>P=78% · R=85% · F1=0.81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8188960" y="3931920"/>
            <a:ext cx="3856736" cy="2505456"/>
          </a:xfrm>
          <a:prstGeom prst="rect">
            <a:avLst/>
          </a:prstGeom>
          <a:solidFill>
            <a:srgbClr val="080F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8152384" y="3895344"/>
            <a:ext cx="3856736" cy="2505456"/>
          </a:xfrm>
          <a:prstGeom prst="rect">
            <a:avLst/>
          </a:prstGeom>
          <a:solidFill>
            <a:srgbClr val="FFFFFF"/>
          </a:solidFill>
          <a:ln w="508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1" name="Picture 120" descr="07-roi-calculator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152384" y="3895344"/>
            <a:ext cx="3856736" cy="2157984"/>
          </a:xfrm>
          <a:prstGeom prst="rect">
            <a:avLst/>
          </a:prstGeom>
        </p:spPr>
      </p:pic>
      <p:sp>
        <p:nvSpPr>
          <p:cNvPr id="122" name="Rectangle 121"/>
          <p:cNvSpPr/>
          <p:nvPr/>
        </p:nvSpPr>
        <p:spPr>
          <a:xfrm>
            <a:off x="8152384" y="6053328"/>
            <a:ext cx="3856736" cy="347472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8152384" y="6053328"/>
            <a:ext cx="45720" cy="347472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243824" y="6089904"/>
            <a:ext cx="3747008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1" sz="850">
                <a:solidFill>
                  <a:srgbClr val="FFFFFF"/>
                </a:solidFill>
              </a:rPr>
              <a:t>07  ROI Calculator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8243824" y="6245352"/>
            <a:ext cx="3747008" cy="137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b="0" sz="700">
                <a:solidFill>
                  <a:srgbClr val="93C5FD"/>
                </a:solidFill>
              </a:rPr>
              <a:t>Rs.455 Cr · 5-yr NPV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274320" y="91440"/>
            <a:ext cx="116430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TECH STACK &amp; PRODUCTION PATH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48640"/>
            <a:ext cx="116430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BDC3C7"/>
                </a:solidFill>
              </a:rPr>
              <a:t>Prototype uses real algorithms; production swaps infra — not logic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" y="6473952"/>
            <a:ext cx="8534186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>
                <a:solidFill>
                  <a:srgbClr val="BDC3C7"/>
                </a:solidFill>
              </a:rPr>
              <a:t>VidyutDrishti  ·  AI for Bharat  ·  Theme 8: Smart Meter Intelligence &amp; Loss Detection (BESCOM)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020" y="6473952"/>
            <a:ext cx="341367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>
                <a:solidFill>
                  <a:srgbClr val="BDC3C7"/>
                </a:solidFill>
              </a:rPr>
              <a:t>github.com/srinidhirepala/VidyutDrishti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1051560"/>
            <a:ext cx="12191695" cy="580644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292608" y="1152144"/>
            <a:ext cx="5739231" cy="37947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256032" y="1115568"/>
            <a:ext cx="5739231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56032" y="1115568"/>
            <a:ext cx="5739231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9184" y="1216152"/>
            <a:ext cx="1371600" cy="2560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84048" y="125272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>
                <a:solidFill>
                  <a:srgbClr val="1E40AF"/>
                </a:solidFill>
              </a:rPr>
              <a:t>SUBMITTED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3936" y="1170432"/>
            <a:ext cx="41481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Prototype Stack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6032" y="1572768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56032" y="1572768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47472" y="160934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Language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01368" y="160934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Python 3.11  /  TypeScript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183616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56032" y="1842516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256032" y="1842516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47472" y="187909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01368" y="187909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FastAPI + Pydantic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" y="210591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256032" y="2112264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256032" y="2112264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47472" y="214884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Database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1368" y="214884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TimescaleDB  —  single node, Docker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6032" y="237566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256032" y="2382012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56032" y="2382012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47472" y="241858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Forecasting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01368" y="241858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Seasonal Baseline (STL + holidays + lags)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64541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56032" y="2651760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56032" y="2651760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47472" y="2688336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Anomaly ML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01368" y="2688336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Isolation Forest  —  scikit-learn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56032" y="2915158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56032" y="2921508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56032" y="2921508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47472" y="295808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Frontend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01368" y="295808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React 18 + Vite + Recharts + Leaflet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6032" y="318490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256032" y="3191256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256032" y="3191256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347472" y="322783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Container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01368" y="322783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Docker Compose  —  3 services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56032" y="345465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Rectangle 49"/>
          <p:cNvSpPr/>
          <p:nvPr/>
        </p:nvSpPr>
        <p:spPr>
          <a:xfrm>
            <a:off x="256032" y="3461004"/>
            <a:ext cx="5739231" cy="269748"/>
          </a:xfrm>
          <a:prstGeom prst="rect">
            <a:avLst/>
          </a:prstGeom>
          <a:solidFill>
            <a:srgbClr val="DBEA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256032" y="3461004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47472" y="349758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Auth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01368" y="349758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None  (prototype scope)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56032" y="372440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256032" y="3730752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56032" y="3730752"/>
            <a:ext cx="36576" cy="269748"/>
          </a:xfrm>
          <a:prstGeom prst="rect">
            <a:avLst/>
          </a:prstGeom>
          <a:solidFill>
            <a:srgbClr val="93C5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47472" y="376732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E40AF"/>
                </a:solidFill>
              </a:rPr>
              <a:t>Data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01368" y="376732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Synthetic AMI  —  259k readings, 8 DTs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56032" y="399415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233007" y="1152144"/>
            <a:ext cx="5739231" cy="379476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6196431" y="1115568"/>
            <a:ext cx="5739231" cy="3794760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6196431" y="1115568"/>
            <a:ext cx="5739231" cy="45720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6269583" y="1216152"/>
            <a:ext cx="1435608" cy="3017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6324447" y="1252728"/>
            <a:ext cx="126187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50" b="1" i="0" dirty="0">
                <a:solidFill>
                  <a:srgbClr val="15803D"/>
                </a:solidFill>
              </a:rPr>
              <a:t>SAME LOGIC · BETTER INFRA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714335" y="1170432"/>
            <a:ext cx="41481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Production Changes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96431" y="1572768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Rectangle 66"/>
          <p:cNvSpPr/>
          <p:nvPr/>
        </p:nvSpPr>
        <p:spPr>
          <a:xfrm>
            <a:off x="6196431" y="1572768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6287871" y="160934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Database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741767" y="160934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TimescaleDB distributed cluster (HA + replication)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96431" y="183616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Rectangle 70"/>
          <p:cNvSpPr/>
          <p:nvPr/>
        </p:nvSpPr>
        <p:spPr>
          <a:xfrm>
            <a:off x="6196431" y="1842516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6196431" y="1842516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287871" y="187909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Ingestion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741767" y="187909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Kafka / Flink  —  replaces batch polling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196431" y="210591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6196431" y="2112264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Rectangle 76"/>
          <p:cNvSpPr/>
          <p:nvPr/>
        </p:nvSpPr>
        <p:spPr>
          <a:xfrm>
            <a:off x="6196431" y="2112264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TextBox 77"/>
          <p:cNvSpPr txBox="1"/>
          <p:nvPr/>
        </p:nvSpPr>
        <p:spPr>
          <a:xfrm>
            <a:off x="6287871" y="214884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Auth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741767" y="214884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LDAP / RBAC  —  Section Eng / Inspector / Manager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196431" y="237566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Rectangle 80"/>
          <p:cNvSpPr/>
          <p:nvPr/>
        </p:nvSpPr>
        <p:spPr>
          <a:xfrm>
            <a:off x="6196431" y="2382012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6196431" y="2382012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6287871" y="241858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Deployment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741767" y="241858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Kubernetes  —  BESCOM data centre or NIC cloud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196431" y="264541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6" name="Rectangle 85"/>
          <p:cNvSpPr/>
          <p:nvPr/>
        </p:nvSpPr>
        <p:spPr>
          <a:xfrm>
            <a:off x="6196431" y="2651760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Rectangle 86"/>
          <p:cNvSpPr/>
          <p:nvPr/>
        </p:nvSpPr>
        <p:spPr>
          <a:xfrm>
            <a:off x="6196431" y="2651760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TextBox 87"/>
          <p:cNvSpPr txBox="1"/>
          <p:nvPr/>
        </p:nvSpPr>
        <p:spPr>
          <a:xfrm>
            <a:off x="6287871" y="2688336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Monitoring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41767" y="2688336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Prometheus + Grafana + PagerDuty alerts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96431" y="2915158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Rectangle 90"/>
          <p:cNvSpPr/>
          <p:nvPr/>
        </p:nvSpPr>
        <p:spPr>
          <a:xfrm>
            <a:off x="6196431" y="2921508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2" name="Rectangle 91"/>
          <p:cNvSpPr/>
          <p:nvPr/>
        </p:nvSpPr>
        <p:spPr>
          <a:xfrm>
            <a:off x="6196431" y="2921508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6287871" y="2958084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Forecasting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741767" y="2958084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Same model  —  retrained weekly on real AMI data</a:t>
            </a:r>
          </a:p>
        </p:txBody>
      </p:sp>
      <p:sp>
        <p:nvSpPr>
          <p:cNvPr id="95" name="Rectangle 94"/>
          <p:cNvSpPr/>
          <p:nvPr/>
        </p:nvSpPr>
        <p:spPr>
          <a:xfrm>
            <a:off x="6196431" y="3184906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6" name="Rectangle 95"/>
          <p:cNvSpPr/>
          <p:nvPr/>
        </p:nvSpPr>
        <p:spPr>
          <a:xfrm>
            <a:off x="6196431" y="3191256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ectangle 96"/>
          <p:cNvSpPr/>
          <p:nvPr/>
        </p:nvSpPr>
        <p:spPr>
          <a:xfrm>
            <a:off x="6196431" y="3191256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8" name="TextBox 97"/>
          <p:cNvSpPr txBox="1"/>
          <p:nvPr/>
        </p:nvSpPr>
        <p:spPr>
          <a:xfrm>
            <a:off x="6287871" y="3227832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ML Retrain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741767" y="3227832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Isolation Forest  —  auto-retrained on inspector feedback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6196431" y="3454654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Rectangle 100"/>
          <p:cNvSpPr/>
          <p:nvPr/>
        </p:nvSpPr>
        <p:spPr>
          <a:xfrm>
            <a:off x="6196431" y="3461004"/>
            <a:ext cx="5739231" cy="269748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2" name="Rectangle 101"/>
          <p:cNvSpPr/>
          <p:nvPr/>
        </p:nvSpPr>
        <p:spPr>
          <a:xfrm>
            <a:off x="6196431" y="3461004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287871" y="3497580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AMI Link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741767" y="3497580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Read-only REST/SFTP from real BESCOM AMI/MDM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196431" y="3724402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6" name="Rectangle 105"/>
          <p:cNvSpPr/>
          <p:nvPr/>
        </p:nvSpPr>
        <p:spPr>
          <a:xfrm>
            <a:off x="6196431" y="3730752"/>
            <a:ext cx="5739231" cy="2697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Rectangle 106"/>
          <p:cNvSpPr/>
          <p:nvPr/>
        </p:nvSpPr>
        <p:spPr>
          <a:xfrm>
            <a:off x="6196431" y="3730752"/>
            <a:ext cx="36576" cy="269748"/>
          </a:xfrm>
          <a:prstGeom prst="rect">
            <a:avLst/>
          </a:prstGeom>
          <a:solidFill>
            <a:srgbClr val="86EF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8" name="TextBox 107"/>
          <p:cNvSpPr txBox="1"/>
          <p:nvPr/>
        </p:nvSpPr>
        <p:spPr>
          <a:xfrm>
            <a:off x="6287871" y="3767328"/>
            <a:ext cx="1417320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5803D"/>
                </a:solidFill>
              </a:rPr>
              <a:t>Scale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741767" y="3767328"/>
            <a:ext cx="4102455" cy="1965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1E293B"/>
                </a:solidFill>
              </a:rPr>
              <a:t>8.5M consumers  ·  50K DTs  ·  ~10M readings/day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96431" y="3994150"/>
            <a:ext cx="5739231" cy="6350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Rectangle 110"/>
          <p:cNvSpPr/>
          <p:nvPr/>
        </p:nvSpPr>
        <p:spPr>
          <a:xfrm>
            <a:off x="256032" y="5074920"/>
            <a:ext cx="11679631" cy="384048"/>
          </a:xfrm>
          <a:prstGeom prst="rect">
            <a:avLst/>
          </a:prstGeom>
          <a:solidFill>
            <a:srgbClr val="FEF3C7"/>
          </a:solidFill>
          <a:ln w="12700">
            <a:solidFill>
              <a:srgbClr val="A1620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TextBox 111"/>
          <p:cNvSpPr txBox="1"/>
          <p:nvPr/>
        </p:nvSpPr>
        <p:spPr>
          <a:xfrm>
            <a:off x="384048" y="5138928"/>
            <a:ext cx="1142359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A16207"/>
                </a:solidFill>
              </a:rPr>
              <a:t>✦  Detection &amp; forecasting algorithms are IDENTICAL in prototype and production  —  only infrastructure and data sources change.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REAL-WORLD DEPLOYABILITY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Built for Day-1 deployment at BESCOM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11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731520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1481328"/>
            <a:ext cx="41148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1371600"/>
            <a:ext cx="2926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Read-only architecture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645920"/>
            <a:ext cx="2926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100% read. Zero writes to AMI/SCADA/MDM/billing.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553712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3712" y="1481328"/>
            <a:ext cx="41148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2" y="1371600"/>
            <a:ext cx="2926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No consumer PII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56632" y="1645920"/>
            <a:ext cx="2926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Operates on meter_id + kWh + voltage + PF only.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93024" y="1280160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375904" y="1463040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75904" y="1481328"/>
            <a:ext cx="41148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78824" y="1371600"/>
            <a:ext cx="2926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Auditable decisions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78824" y="1645920"/>
            <a:ext cx="2926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Deterministic rule trace per flag. Audit log.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31520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31520" y="2377440"/>
            <a:ext cx="41148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2267712"/>
            <a:ext cx="2926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Inspector in the loop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4440" y="2542032"/>
            <a:ext cx="2926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System recommends; inspector decides. No auto-disconnect.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70832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53712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553712" y="2377440"/>
            <a:ext cx="41148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56632" y="2267712"/>
            <a:ext cx="2926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CEA-compliant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6632" y="2542032"/>
            <a:ext cx="2926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Reading-processing rules align with metering regulations.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93024" y="2176272"/>
            <a:ext cx="3703320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8375904" y="2359152"/>
            <a:ext cx="411480" cy="411480"/>
          </a:xfrm>
          <a:prstGeom prst="ellipse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375904" y="2377440"/>
            <a:ext cx="41148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78824" y="2267712"/>
            <a:ext cx="292608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0B2A5B"/>
                </a:solidFill>
                <a:latin typeface="Calibri"/>
              </a:rPr>
              <a:t>On-premise deployable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78824" y="2542032"/>
            <a:ext cx="2926080" cy="4114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0">
                <a:solidFill>
                  <a:srgbClr val="334155"/>
                </a:solidFill>
                <a:latin typeface="Calibri"/>
              </a:rPr>
              <a:t>Docker Compose. Runs on BESCOM data centre.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32918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172A"/>
                </a:solidFill>
                <a:latin typeface="Calibri"/>
              </a:rPr>
              <a:t>4-phase build plan from the submitted idea — all phases shipped in this prototype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4864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54864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" y="3794760"/>
            <a:ext cx="1097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828800" y="379476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4343400"/>
            <a:ext cx="233172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Ingestion · TimescaleDB · synthetic data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(8 DTs · 60+ meters · 180 days · 3 theft scenarios)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31520" y="512064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38328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38328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3566160" y="3794760"/>
            <a:ext cx="1097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63440" y="379476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Forecasting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566160" y="4343400"/>
            <a:ext cx="233172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Seasonal Baseline Forecasting · holidays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seasonal features · zone risk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56616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566160" y="512064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21792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621792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400800" y="3794760"/>
            <a:ext cx="1097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498080" y="379476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Detection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400800" y="4343400"/>
            <a:ext cx="233172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L0–L3 layers · confidence engine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behavioural classifier · queue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640080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400800" y="512064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52560" y="3703320"/>
            <a:ext cx="26974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Rectangle 61"/>
          <p:cNvSpPr/>
          <p:nvPr/>
        </p:nvSpPr>
        <p:spPr>
          <a:xfrm>
            <a:off x="9052560" y="3703320"/>
            <a:ext cx="2697480" cy="50292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9235440" y="3794760"/>
            <a:ext cx="1097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Phase 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2720" y="3794760"/>
            <a:ext cx="13716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UI &amp; Ops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235440" y="4343400"/>
            <a:ext cx="2331720" cy="9144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Dashboards · feedback loop</a:t>
            </a:r>
          </a:p>
          <a:p>
            <a:pPr algn="l">
              <a:lnSpc>
                <a:spcPct val="13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· Docker Compose · E2E tests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235440" y="512064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235440" y="5120640"/>
            <a:ext cx="914400" cy="27432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>
                <a:solidFill>
                  <a:srgbClr val="FFFFFF"/>
                </a:solidFill>
                <a:latin typeface="Calibri"/>
              </a:rPr>
              <a:t>✓ SHIPPED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SCALABILITY &amp; FINANCIAL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Rs. 455 Cr / year recovery at BESCOM 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12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371600"/>
            <a:ext cx="33375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645920"/>
            <a:ext cx="333756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Rs. 455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Projected annual recovery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0832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53712" y="1371600"/>
            <a:ext cx="33375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1645920"/>
            <a:ext cx="333756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&lt; 1 month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240280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Platform payback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93024" y="1280160"/>
            <a:ext cx="3703320" cy="137160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1371600"/>
            <a:ext cx="333756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B45309"/>
                </a:solidFill>
                <a:latin typeface="Calibri"/>
              </a:rPr>
              <a:t>PROJECTED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75904" y="1645920"/>
            <a:ext cx="333756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Rs. 1,669 Cr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5904" y="2240280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CBD5E1"/>
                </a:solidFill>
                <a:latin typeface="Calibri"/>
              </a:rPr>
              <a:t>5-year NPV (10% discount)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29260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Assumptions (live in /api/v1/metrics/roi)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337560"/>
          <a:ext cx="56692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560320"/>
              </a:tblGrid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BESCOM consumers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8,500,000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Active-theft prevalence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3% (industry avg)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Theft population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255,000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Detection rate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85%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Avg monthly leakage / case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Rs. 3,500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Inspector cost saved vs random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65%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6492240" y="2926080"/>
            <a:ext cx="5486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B2A5B"/>
                </a:solidFill>
                <a:latin typeface="Calibri"/>
              </a:rPr>
              <a:t>Replication potential — same architecture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6492240" y="3337560"/>
          <a:ext cx="51663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280160"/>
                <a:gridCol w="1005840"/>
                <a:gridCol w="1417320"/>
              </a:tblGrid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DISCOM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Consumers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Recovery / yr</a:t>
                      </a:r>
                    </a:p>
                  </a:txBody>
                  <a:tcPr>
                    <a:solidFill>
                      <a:srgbClr val="0B2A5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TANGEDCO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Tamil Nadu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30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3,200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MSEDCL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Maharashtra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28 M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2,900 Cr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UPPCL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Uttar Pradesh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33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~Rs. 3,500 Cr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F172A"/>
                          </a:solidFill>
                          <a:latin typeface="Calibri"/>
                        </a:rPr>
                        <a:t>All-India DISCOMs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250 M+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0F172A"/>
                          </a:solidFill>
                          <a:latin typeface="Calibri"/>
                        </a:rPr>
                        <a:t>Rs. 25,000+ Cr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6492240" y="5669280"/>
            <a:ext cx="5166360" cy="640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675120" y="5760720"/>
            <a:ext cx="5029200" cy="45720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TAM: Rs. 25,000+ Cr addressable across Indian DISCOMs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100584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45309"/>
                </a:solidFill>
                <a:latin typeface="Calibri"/>
              </a:rPr>
              <a:t>SUBMISSION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0B2A5B"/>
                </a:solidFill>
                <a:latin typeface="Calibri"/>
              </a:rPr>
              <a:t>How we map to each evaluation criterion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274320"/>
            <a:ext cx="7315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4748B"/>
                </a:solidFill>
                <a:latin typeface="Calibri"/>
              </a:rPr>
              <a:t>13 /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46520"/>
            <a:ext cx="11091672" cy="8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VidyutDrishti  ·  AI for Bharat  ·  Theme 8: Smart Meter Intelligence &amp; Loss Detection (BESCOM)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492240"/>
            <a:ext cx="246888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64748B"/>
                </a:solidFill>
                <a:latin typeface="Calibri"/>
              </a:rPr>
              <a:t>github.com/srinidhirepala/VidyutDrishti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1280160"/>
            <a:ext cx="109728" cy="777240"/>
          </a:xfrm>
          <a:prstGeom prst="rect">
            <a:avLst/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77240" y="150876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0B2A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77240" y="1508760"/>
            <a:ext cx="6400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1353312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Problem Relevance &amp; Depth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1664208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BESCOM-specific Rs. 1,800 Cr leakage · 3 named operational failures · conservative 1.5% theft prevalence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14884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2148840"/>
            <a:ext cx="109728" cy="777240"/>
          </a:xfrm>
          <a:prstGeom prst="rect">
            <a:avLst/>
          </a:prstGeom>
          <a:solidFill>
            <a:srgbClr val="1E3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77240" y="237744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377440"/>
            <a:ext cx="6400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2221992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Technical Implementation &amp; Innovation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2532888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4-layer detection · Seasonal Baseline Forecasting · weighted confidence · 5-class classifier · live P=78%, R=85%, F1=0.81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01752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3017520"/>
            <a:ext cx="109728" cy="77724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40" y="324612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40" y="3246120"/>
            <a:ext cx="6400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25%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3090672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Real-World Deployability &amp; Govt Feasibility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3401568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Read-only · no PII · CEA-compliant · 4-phase build all shipped · Docker for BESCOM data centre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8620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3886200"/>
            <a:ext cx="109728" cy="777240"/>
          </a:xfrm>
          <a:prstGeom prst="rect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40" y="4114800"/>
            <a:ext cx="6400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3959352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Demo Quality &amp; Presentation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270248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7 working modules · 7 live API endpoints · 5-min jury verification path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4754880"/>
            <a:ext cx="11091672" cy="7772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548640" y="4754880"/>
            <a:ext cx="109728" cy="777240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777240" y="4983480"/>
            <a:ext cx="640080" cy="32004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77240" y="4983480"/>
            <a:ext cx="640080" cy="3200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15%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4828032"/>
            <a:ext cx="1005840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B2A5B"/>
                </a:solidFill>
                <a:latin typeface="Calibri"/>
              </a:rPr>
              <a:t>Scalability &amp; Long-Term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54480" y="5138928"/>
            <a:ext cx="100584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334155"/>
                </a:solidFill>
                <a:latin typeface="Calibri"/>
              </a:rPr>
              <a:t>Rs. 455 Cr/yr recovery · 5-yr NPV Rs. 1,669 Cr · Rs. 25,000 Cr all-India TAM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623560"/>
            <a:ext cx="11091672" cy="320040"/>
          </a:xfrm>
          <a:prstGeom prst="roundRect">
            <a:avLst>
              <a:gd name="adj" fmla="val 4000"/>
            </a:avLst>
          </a:prstGeom>
          <a:solidFill>
            <a:srgbClr val="0B2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777240" y="5641848"/>
            <a:ext cx="32004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B45309"/>
                </a:solidFill>
                <a:latin typeface="Calibri"/>
              </a:rPr>
              <a:t>VERIFY IN 5 MIN  →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200400" y="5641848"/>
            <a:ext cx="84124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FFFFFF"/>
                </a:solidFill>
                <a:latin typeface="Consolas"/>
              </a:rPr>
              <a:t>git clone … &amp;&amp; docker compose up   →   localhost:5173 (UI)  ·  localhost:8000/docs (API)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48640" y="5989320"/>
            <a:ext cx="11091672" cy="32004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777240" y="6007608"/>
            <a:ext cx="320040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Calibri"/>
              </a:rPr>
              <a:t>▶  WATCH DEMO VIDEO  →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00400" y="6007608"/>
            <a:ext cx="8412480" cy="29260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FFFFFF"/>
                </a:solidFill>
                <a:latin typeface="Calibri"/>
              </a:rPr>
              <a:t>https://drive.google.com/file/d/1LOgpMxeu2LzAK52B-go-8gtAn6rHe1Eu/view?usp=sharing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3392424"/>
            <a:ext cx="9448495" cy="54864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0" y="1280160"/>
            <a:ext cx="121916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2606040"/>
            <a:ext cx="121916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BDC3C7"/>
                </a:solidFill>
              </a:rPr>
              <a:t>VidyutDrishti  —  AT&amp;C Loss Recovery Intelligence for BESCOM</a:t>
            </a:r>
          </a:p>
        </p:txBody>
      </p:sp>
      <p:sp>
        <p:nvSpPr>
          <p:cNvPr id="8" name="Rectangle 7"/>
          <p:cNvSpPr/>
          <p:nvPr/>
        </p:nvSpPr>
        <p:spPr>
          <a:xfrm>
            <a:off x="2072487" y="3703320"/>
            <a:ext cx="2560320" cy="8686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072487" y="3776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DEMO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487" y="39959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CF0F1"/>
                </a:solidFill>
              </a:rPr>
              <a:t>Watch the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2487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1C40F"/>
                </a:solidFill>
              </a:rPr>
              <a:t>drive.google.com/...1LOgpMxeu2...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815687" y="3703320"/>
            <a:ext cx="2560320" cy="8686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15687" y="3776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15687" y="39959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CF0F1"/>
                </a:solidFill>
              </a:rPr>
              <a:t>Explore the 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15687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1C40F"/>
                </a:solidFill>
              </a:rPr>
              <a:t>github.com/srinidhirepala/VidyutDrishti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558887" y="3703320"/>
            <a:ext cx="2560320" cy="86868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558887" y="3776472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RUN LOCAL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8887" y="3995928"/>
            <a:ext cx="2560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ECF0F1"/>
                </a:solidFill>
              </a:rPr>
              <a:t>Verify 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58887" y="420624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>
                <a:solidFill>
                  <a:srgbClr val="F1C40F"/>
                </a:solidFill>
              </a:rPr>
              <a:t>docker compose up → localhost:5173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5577840"/>
            <a:ext cx="12191695" cy="822960"/>
          </a:xfrm>
          <a:prstGeom prst="rect">
            <a:avLst/>
          </a:prstGeom>
          <a:solidFill>
            <a:srgbClr val="1E2D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0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1C40F"/>
                </a:solidFill>
              </a:rPr>
              <a:t>4 Layers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0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DC3C7"/>
                </a:solidFill>
              </a:rPr>
              <a:t>L0 → L1 → L2 → L3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38339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1C40F"/>
                </a:solidFill>
              </a:rPr>
              <a:t>7 Modules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339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DC3C7"/>
                </a:solidFill>
              </a:rPr>
              <a:t>All live in Docker stack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76678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1C40F"/>
                </a:solidFill>
              </a:rPr>
              <a:t>8 APIs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76678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DC3C7"/>
                </a:solidFill>
              </a:rPr>
              <a:t>FastAPI + Swagger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017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1C40F"/>
                </a:solidFill>
              </a:rPr>
              <a:t>Rs. 455 Cr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017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DC3C7"/>
                </a:solidFill>
              </a:rPr>
              <a:t>BESCOM-scale recovery/yr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53356" y="5650992"/>
            <a:ext cx="243833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F1C40F"/>
                </a:solidFill>
              </a:rPr>
              <a:t>P=78% R=85%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53356" y="5961888"/>
            <a:ext cx="24383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>
                <a:solidFill>
                  <a:srgbClr val="BDC3C7"/>
                </a:solidFill>
              </a:rPr>
              <a:t>Live eval metrics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2103</Words>
  <Application>Microsoft Office PowerPoint</Application>
  <PresentationFormat>Custom</PresentationFormat>
  <Paragraphs>496</Paragraphs>
  <Slides>14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asha jyothi boddu</cp:lastModifiedBy>
  <cp:revision>2</cp:revision>
  <dcterms:created xsi:type="dcterms:W3CDTF">2013-01-27T09:14:16Z</dcterms:created>
  <dcterms:modified xsi:type="dcterms:W3CDTF">2026-05-08T01:25:21Z</dcterms:modified>
  <cp:category/>
</cp:coreProperties>
</file>