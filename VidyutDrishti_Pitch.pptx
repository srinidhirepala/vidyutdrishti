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8" r:id="rId19"/>
    <p:sldId id="265" r:id="rId16"/>
    <p:sldId id="266" r:id="rId17"/>
    <p:sldId id="267" r:id="rId18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0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914400"/>
            <a:ext cx="6400800" cy="9144000"/>
          </a:xfrm>
          <a:prstGeom prst="parallelogram">
            <a:avLst>
              <a:gd name="adj" fmla="val 4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6400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VIDYUTDRISHTI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914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AI for Bharat  ·  Theme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96012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FFFFFF"/>
                </a:solidFill>
                <a:latin typeface="Calibri"/>
              </a:rPr>
              <a:t>VidyutDrishti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B45309"/>
                </a:solidFill>
                <a:latin typeface="Calibri"/>
              </a:rPr>
              <a:t>AT&amp;C Loss Recovery Intelligence System for BESCOM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2E8F0"/>
                </a:solidFill>
                <a:latin typeface="Calibri"/>
              </a:rPr>
              <a:t>A read-only software intelligence layer that turns BESCOM's existing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2E8F0"/>
                </a:solidFill>
                <a:latin typeface="Calibri"/>
              </a:rPr>
              <a:t>smart-meter data into rupee-quantified, prioritised inspection leads.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7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  <a:latin typeface="Calibri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[Team Name] · [Member 1] · [Member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080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  <a:latin typeface="Calibri"/>
              </a:rPr>
              <a:t>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309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Live · Docker Compose · 7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080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  <a:latin typeface="Calibri"/>
              </a:rPr>
              <a:t>DEMO 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30936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https://drive.google.com/file/d/1LOgpMxeu2LzAK52B-go-8gtAn6rHe1Eu/view?usp=sharing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BESCOM loses Rs. 1,800 Cr a year. The data to stop it already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73152" cy="1280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8.5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Consumers across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Bengaluru + 6 districts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3716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371600"/>
            <a:ext cx="73152" cy="1280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50876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17 %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103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Current AT&amp;C loss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(national avg ~16%)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3716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371600"/>
            <a:ext cx="73152" cy="1280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50876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Rs. 1,800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103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Estimated annual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revenue leakage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7696" y="1371600"/>
            <a:ext cx="26974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7696" y="1371600"/>
            <a:ext cx="73152" cy="1280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50876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103120"/>
            <a:ext cx="2697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Smart-meter granularity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already collected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Three operational failures drive the leakage: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38328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63016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6118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5B"/>
                </a:solidFill>
                <a:latin typeface="Calibri"/>
              </a:rPr>
              <a:t>No top-down</a:t>
            </a: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5B"/>
                </a:solidFill>
                <a:latin typeface="Calibri"/>
              </a:rPr>
              <a:t>loss attribution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52628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Section-level AT&amp;C is known; DT and meter-level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attribution is not. Losses visible but not actionable.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38328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17720" y="361188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63016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6118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5B"/>
                </a:solidFill>
                <a:latin typeface="Calibri"/>
              </a:rPr>
              <a:t>No peer-aware</a:t>
            </a: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5B"/>
                </a:solidFill>
                <a:latin typeface="Calibri"/>
              </a:rPr>
              <a:t>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452628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A 40% June drop looks identical for AC removal vs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a hook-bypass — neither inference is defensible.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383280"/>
            <a:ext cx="3703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58200" y="3611880"/>
            <a:ext cx="502920" cy="502920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363016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11880"/>
            <a:ext cx="2697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5B"/>
                </a:solidFill>
                <a:latin typeface="Calibri"/>
              </a:rPr>
              <a:t>No inspection</a:t>
            </a:r>
          </a:p>
          <a:p>
            <a:pPr algn="l">
              <a:lnSpc>
                <a:spcPct val="110000"/>
              </a:lnSpc>
            </a:pPr>
            <a:r>
              <a:rPr sz="1500" b="1">
                <a:solidFill>
                  <a:srgbClr val="0B2A5B"/>
                </a:solidFill>
                <a:latin typeface="Calibri"/>
              </a:rPr>
              <a:t>ROI prioritisation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526280"/>
            <a:ext cx="3246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Rs. 500/mo and Rs. 8,000/mo cases share queue priority.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Calibri"/>
              </a:rPr>
              <a:t>Field labour wasted on low-recovery cases.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73152" cy="5486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Calibri"/>
              </a:rPr>
              <a:t>Every 1% reduction in BESCOM's AT&amp;C loss = Rs. 100 Cr recovered annually.  Tampered meters today run 6–12 months undetected.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A read-only intelligence layer above BESCOM's existing 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280160"/>
            <a:ext cx="10058400" cy="50292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280160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Smart Meters (existing AMI · 15-min intervals)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9320" y="1783080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1947672"/>
            <a:ext cx="10058400" cy="50292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7672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TimescaleDB · time-series store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9320" y="2450592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2615184"/>
            <a:ext cx="10058400" cy="50292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615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Part A: Feeder Forecast + Zone Risk    |    Part B: 4-Layer Detection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89320" y="3118104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3282696"/>
            <a:ext cx="10058400" cy="50292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82696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Confidence Engine + Behavioural Classifier + Leakage Quantifier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5989320" y="3785616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3950208"/>
            <a:ext cx="10058400" cy="50292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50208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Ranked Inspection Queue (sorted by Rs. × confidence)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89320" y="4453128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" y="4617720"/>
            <a:ext cx="10058400" cy="502920"/>
          </a:xfrm>
          <a:prstGeom prst="roundRect">
            <a:avLst>
              <a:gd name="adj" fmla="val 4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617720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Field Inspector  →  Outcome  →  90-day Feedback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370332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73152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3429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Read-only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52160"/>
            <a:ext cx="3429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Zero writes to AMI/SCADA/MDM/billing.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Integration risk = 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5486400"/>
            <a:ext cx="370332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5486400"/>
            <a:ext cx="73152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5577840"/>
            <a:ext cx="3429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Deterministic &amp; auditable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852160"/>
            <a:ext cx="3429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Every flag has a rule trace.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No black-box billing decisions.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5486400"/>
            <a:ext cx="3703320" cy="868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5486400"/>
            <a:ext cx="73152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5577840"/>
            <a:ext cx="3429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Self-improving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5852160"/>
            <a:ext cx="3429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Inspector outcomes recalibrate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thresholds over first 90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PART A · FORECASTING &amp; ZONE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Per-feeder demand forecasting with calibrated confidence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Model specification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56692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749039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Prophet-compatible seasonal baseline + trend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Trained on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15-min meter readings → feeder-level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24 hours, refreshed hourly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15-min forecast points (96 / day)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Confidence bands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P10 / P90 native uncertainty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Regressors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IN holidays, KA holidays, Mar–Jun AC flag, t–7d / t–14d lags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900">
                          <a:solidFill>
                            <a:srgbClr val="0F172A"/>
                          </a:solidFill>
                          <a:latin typeface="Calibri"/>
                        </a:rPr>
                        <a:t>Production swap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1-day to Facebook Prophet (schema-compatible)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Zone risk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51663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691640"/>
            <a:ext cx="109728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78308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91C1C"/>
                </a:solidFill>
                <a:latin typeface="Calibri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Predicted peak ≥ 88% of historical 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9456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Action: Alert section engineer · pre-emptive shedding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51760"/>
            <a:ext cx="51663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651760"/>
            <a:ext cx="109728" cy="868680"/>
          </a:xfrm>
          <a:prstGeom prst="rect">
            <a:avLst/>
          </a:prstGeom>
          <a:solidFill>
            <a:srgbClr val="A16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7432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16A07"/>
                </a:solidFill>
                <a:latin typeface="Calibri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7432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Predicted peak 75–88% of historical 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1546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Action: Monitor · prepare contingency dispatch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611880"/>
            <a:ext cx="51663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611880"/>
            <a:ext cx="109728" cy="8686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7033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803D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70332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alibri"/>
              </a:rPr>
              <a:t>Predicted peak &lt; 75% of historical 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Action: Normal operations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73168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Forecast evaluation targets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" y="5166360"/>
          <a:ext cx="11064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3291840"/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vs hour-of-day historical average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≥ 15% lower RMSE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vs persistence (t = t-1)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≥ 15% lower RMSE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vs seasonal naive (t = t-7d)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≥ 15% lower RMSE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P10–P90 empirical coverage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≥ 95% of actuals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PART B · ANOMALY &amp; THEFT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4-layer detection — each layer catches a different theft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269748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L0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490472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DT Energy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DT input − Σ consumer reads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08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&gt; 8% imbalance, 3+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CATCHES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Hook-bypass · large-scale tampering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1325880"/>
            <a:ext cx="269748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4992" y="13258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2" y="141732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L1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1490472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Statistical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1031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3317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90-day rolling z-score by hour/day/month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288036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108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|Z| &gt; 3.0, 4+ slots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35204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CATCHES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37033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Sudden meter drop or spike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1325880"/>
            <a:ext cx="269748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1344" y="13258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141732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1490472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Peer Group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21031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23317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Same DT + same consumer 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288036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3108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−2.5σ vs peer median, 5+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35204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CATCHES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37033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Distinguishes theft from seasonal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696" y="1325880"/>
            <a:ext cx="2697480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97696" y="13258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0576" y="1417320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L3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66376" y="1490472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576" y="210312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METHOD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23317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F172A"/>
                </a:solidFill>
                <a:latin typeface="Calibri"/>
              </a:rPr>
              <a:t>Multivariate features · contamination 0.03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288036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0576" y="3108960"/>
            <a:ext cx="2331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Retrained monthly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0576" y="3520440"/>
            <a:ext cx="2331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64748B"/>
                </a:solidFill>
                <a:latin typeface="Calibri"/>
              </a:rPr>
              <a:t>CATCHES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37033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Subtle pattern shifts, PF drops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16052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224528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L3 FEATURE VECTOR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44805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Consolas"/>
              </a:rPr>
              <a:t>kWh mean  ·  peak-to-mean ratio  ·  night-consumption ratio  ·  trend slope  ·  power factor  ·  zero-reading rate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120640"/>
            <a:ext cx="11091672" cy="118872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21208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09"/>
                </a:solidFill>
                <a:latin typeface="Calibri"/>
              </a:rPr>
              <a:t>Why four layers?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48640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A single anomaly signal has too many false positives at utility scale.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Requiring independent multi-layer agreement converts noisy signals into decision-grade leads — this is the core innovation.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AGGREGATION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Confidence Engine + Behavioural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06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Confidence Engine — weighted aggregation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0584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L0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Aggregate DT signal — less specific to a meter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Individual historical baseline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Peer-relative — strongest theft differentiator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Multivariate pattern detection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657600"/>
            <a:ext cx="56692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91440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91C1C"/>
                </a:solidFill>
                <a:latin typeface="Calibri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74904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onsolas"/>
              </a:rPr>
              <a:t>≥ 0.85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74904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Immediate inspection · top of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51960"/>
            <a:ext cx="56692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91440" cy="502920"/>
          </a:xfrm>
          <a:prstGeom prst="rect">
            <a:avLst/>
          </a:prstGeom>
          <a:solidFill>
            <a:srgbClr val="A16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A16A07"/>
                </a:solidFill>
                <a:latin typeface="Calibri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434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onsolas"/>
              </a:rPr>
              <a:t>0.65 – 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434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Inspect within 7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56692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9144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3A8A"/>
                </a:solidFill>
                <a:latin typeface="Calibri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37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onsolas"/>
              </a:rPr>
              <a:t>0.50 – 0.65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377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Monitor 7 more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40680"/>
            <a:ext cx="56692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40680"/>
            <a:ext cx="91440" cy="5029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1887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4748B"/>
                </a:solidFill>
                <a:latin typeface="Calibri"/>
              </a:rPr>
              <a:t>NORMAL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5321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172A"/>
                </a:solidFill>
                <a:latin typeface="Consolas"/>
              </a:rPr>
              <a:t>&lt; 0.50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53212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No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Behavioural classifier — pattern → operational interpretation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492240" y="1691640"/>
          <a:ext cx="5166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3756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Code output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Operational interpretation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sudden_drop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Hook Bypass candidate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flatline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Meter Stop / disconnected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erratic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Meter Tampering (gradual)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spike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Meter fault / back-feed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normal_pattern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Legitimate variation / vacant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492240" y="4297680"/>
            <a:ext cx="5166360" cy="201168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4348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LEAKAGE QUANTIFIER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0916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Rs./month per flagged meter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21208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Consolas"/>
              </a:rPr>
              <a:t>leakage_Rs = (peer_median_kWh − actual_billed_kWh) × tariff_slab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715000"/>
            <a:ext cx="4937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Tariff slab from MDM consumer master.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CBD5E1"/>
                </a:solidFill>
                <a:latin typeface="Calibri"/>
              </a:rPr>
              <a:t>Queue is sorted by rupee value, not raw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RISK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Data quality, noise suppression, and a closed feedback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Missing-reading policy (deterministic, auditable)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47472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Gap duration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Handling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Under 1 hour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Forward-fill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1 to 6 hours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Linear interpolation, excluded from scoring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Over 6 hours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Scoring suspended for that meter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Missing + voltage present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Raised as Meter Stop flag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Seasonality &amp; false-positive mitigation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1691640"/>
          <a:ext cx="5166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204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Summer AC / monsoon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Explicit regressors in forecast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Karnataka holidays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Named effects in Prophet model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Appliance spikes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4-slot minimum (L1) · daily aggregation (L2/L3)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Peer compare → multi-layer confidence → feedback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160520"/>
            <a:ext cx="11091672" cy="214884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FEEDBACK LOOP — closed-loop recalibration over first 90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00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800600"/>
            <a:ext cx="91440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2240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Confirmed Theft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2240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Threshold confirmed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2152" y="4800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2152" y="4800600"/>
            <a:ext cx="91440" cy="1371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4937760"/>
            <a:ext cx="2240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False 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5349240"/>
            <a:ext cx="2240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Threshold tightened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800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27064" y="4800600"/>
            <a:ext cx="91440" cy="1371600"/>
          </a:xfrm>
          <a:prstGeom prst="rect">
            <a:avLst/>
          </a:prstGeom>
          <a:solidFill>
            <a:srgbClr val="A16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937760"/>
            <a:ext cx="2240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Equipment 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5349240"/>
            <a:ext cx="2240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Reroute to maintenance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1976" y="480060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1976" y="4800600"/>
            <a:ext cx="91440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4937760"/>
            <a:ext cx="22402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Vacant Premises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5349240"/>
            <a:ext cx="22402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Add to allowlist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LIVE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Performance against synthetic ground truth — live in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08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1417320"/>
            <a:ext cx="502920" cy="2286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417320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5448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2A5B"/>
                </a:solidFill>
                <a:latin typeface="Calibri"/>
              </a:rPr>
              <a:t>78 %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Precision @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Target ≥ 70%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68112" y="1417320"/>
            <a:ext cx="502920" cy="2286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1417320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155448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2A5B"/>
                </a:solidFill>
                <a:latin typeface="Calibri"/>
              </a:rPr>
              <a:t>85 %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Recall (hook bypass)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774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Target ≥ 85%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4464" y="1417320"/>
            <a:ext cx="502920" cy="22860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1417320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155448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2A5B"/>
                </a:solidFill>
                <a:latin typeface="Calibri"/>
              </a:rPr>
              <a:t>0.81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F1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3774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Harmonic mean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696" y="1280160"/>
            <a:ext cx="2697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100816" y="1417320"/>
            <a:ext cx="502920" cy="22860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00816" y="1417320"/>
            <a:ext cx="50292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1554480"/>
            <a:ext cx="2697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B2A5B"/>
                </a:solidFill>
                <a:latin typeface="Calibri"/>
              </a:rPr>
              <a:t>6.2 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21488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72A"/>
                </a:solidFill>
                <a:latin typeface="Calibri"/>
              </a:rPr>
              <a:t>Mean detection lag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2377440"/>
            <a:ext cx="2697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Target &lt; 10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Threshold sweep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48640" y="333756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137160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0.5  (default)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9224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A5B"/>
                </a:solidFill>
                <a:latin typeface="Calibri"/>
              </a:rPr>
              <a:t>Confusion matrix @ default threshold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492240" y="3337560"/>
          <a:ext cx="5166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/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Pred. Theft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Pred. Normal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F172A"/>
                          </a:solidFill>
                          <a:latin typeface="Calibri"/>
                        </a:rPr>
                        <a:t>Actual Theft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17  (TP)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3  (FN)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F172A"/>
                          </a:solidFill>
                          <a:latin typeface="Calibri"/>
                        </a:rPr>
                        <a:t>Actual Normal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5  (FP)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21  (TN)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6492240" y="5120640"/>
            <a:ext cx="5166360" cy="1188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92240" y="5120640"/>
            <a:ext cx="91440" cy="1188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21208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VERIFY LIVE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440680"/>
            <a:ext cx="484632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GET /api/v1/metrics/evaluation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All numbers above are computed live by the running prototype's evaluation harness.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Seven modules, all live in the submitted Docker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09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310896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1344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310896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97696" y="1280160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7696" y="310896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703320"/>
            <a:ext cx="269748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52160"/>
            <a:ext cx="2697480" cy="45720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703320"/>
            <a:ext cx="4114800" cy="260604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89520" y="3703320"/>
            <a:ext cx="4114800" cy="260604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" y="6355080"/>
            <a:ext cx="11091672" cy="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1188720"/>
            <a:ext cx="281017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01-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188720"/>
            <a:ext cx="2810179" cy="1585569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228600" y="2774289"/>
            <a:ext cx="2810179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2810865"/>
            <a:ext cx="2718739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162287"/>
            <a:ext cx="2718739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KPIs · 6 charts · feeder forecast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3371" y="1188720"/>
            <a:ext cx="281017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2-inspection-que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3371" y="1188720"/>
            <a:ext cx="2810179" cy="1585569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3203371" y="2774289"/>
            <a:ext cx="2810179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9091" y="2810865"/>
            <a:ext cx="2718739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Inspection Queue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9091" y="3162287"/>
            <a:ext cx="2718739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Ranked by Rs. × confidence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8143" y="1188720"/>
            <a:ext cx="281017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03-meter-look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8143" y="1188720"/>
            <a:ext cx="2810179" cy="1585569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178143" y="2774289"/>
            <a:ext cx="2810179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23863" y="2810865"/>
            <a:ext cx="2718739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Meter Lookup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23863" y="3162287"/>
            <a:ext cx="2718739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4-layer drill-down · rule trace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52915" y="1188720"/>
            <a:ext cx="281017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04-feedback-for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2915" y="1188720"/>
            <a:ext cx="2810179" cy="1585569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9152915" y="2774289"/>
            <a:ext cx="2810179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98635" y="2810865"/>
            <a:ext cx="2718739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98635" y="3162287"/>
            <a:ext cx="2718739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Inspector outcome · live refresh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3685032"/>
            <a:ext cx="380177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05-zone-ma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3685032"/>
            <a:ext cx="3801770" cy="1585569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228600" y="5270601"/>
            <a:ext cx="3801770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5307177"/>
            <a:ext cx="3710330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Zone Risk 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" y="5658599"/>
            <a:ext cx="3710330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Bengaluru Leaflet heatmap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94962" y="3685032"/>
            <a:ext cx="380177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06-evaluation-metric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4962" y="3685032"/>
            <a:ext cx="3801770" cy="1585569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4194962" y="5270601"/>
            <a:ext cx="3801770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40682" y="5307177"/>
            <a:ext cx="3710330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Eval Metrics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40682" y="5658599"/>
            <a:ext cx="3710330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Live P=78% · R=85% · F1=0.81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61324" y="3685032"/>
            <a:ext cx="380177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07-roi-calculat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1324" y="3685032"/>
            <a:ext cx="3801770" cy="1585569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8161324" y="5270601"/>
            <a:ext cx="3801770" cy="746151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07044" y="5307177"/>
            <a:ext cx="3710330" cy="4103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>
                <a:solidFill>
                  <a:srgbClr val="FFFFFF"/>
                </a:solidFill>
              </a:rPr>
              <a:t>ROI Calculator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07044" y="5658599"/>
            <a:ext cx="3710330" cy="35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650">
                <a:solidFill>
                  <a:srgbClr val="BAE6FD"/>
                </a:solidFill>
              </a:rPr>
              <a:t>Interactive sliders · 5-yr NPV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274320" y="91440"/>
            <a:ext cx="11643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TECH STACK &amp; PRODUCTION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116430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BDC3C7"/>
                </a:solidFill>
              </a:rPr>
              <a:t>Prototype uses real algorithms; production swaps infra — not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85341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700">
                <a:solidFill>
                  <a:srgbClr val="BDC3C7"/>
                </a:solidFill>
              </a:rPr>
              <a:t>VidyutDrishti  ·  AI for Bharat  ·  Theme 8: Smart Meter Intelligence &amp; Loss Detection (BESCOM)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20" y="6473952"/>
            <a:ext cx="341367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700">
                <a:solidFill>
                  <a:srgbClr val="BDC3C7"/>
                </a:solidFill>
              </a:rPr>
              <a:t>github.com/srinidhirepala/VidyutDrishti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58064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1152144"/>
            <a:ext cx="5739231" cy="37947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15568"/>
            <a:ext cx="5739231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5739231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" y="1216152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252728"/>
            <a:ext cx="1261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750">
                <a:solidFill>
                  <a:srgbClr val="1E40AF"/>
                </a:solidFill>
              </a:rPr>
              <a:t>SUBMITTED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1170432"/>
            <a:ext cx="414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Prototype 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1572768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1572768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1609344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1609344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Python 3.11  /  TypeScript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1836166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1842516"/>
            <a:ext cx="5739231" cy="2697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1842516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1879092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1368" y="1879092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FastAPI + Pydantic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105914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2112264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2112264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148840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2148840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TimescaleDB  —  single node, Docker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375662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2382012"/>
            <a:ext cx="5739231" cy="2697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2382012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2418588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Forecasting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1368" y="2418588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Seasonal Baseline (STL + holidays + lags)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645410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2651760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2651760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2688336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Anomaly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1368" y="2688336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Isolation Forest  —  scikit-learn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2915158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032" y="2921508"/>
            <a:ext cx="5739231" cy="2697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6032" y="2921508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2958084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01368" y="2958084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React 18 + Vite + Recharts + Leaflet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3184906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6032" y="3191256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3191256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3227832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Container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01368" y="3227832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Docker Compose  —  3 services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" y="3454654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3461004"/>
            <a:ext cx="5739231" cy="26974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" y="3461004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3497580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Auth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497580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None  (prototype scope)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3724402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6032" y="3730752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6032" y="3730752"/>
            <a:ext cx="36576" cy="26974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3767328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E40AF"/>
                </a:solidFill>
              </a:rPr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01368" y="3767328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Synthetic AMI  —  259k readings, 8 DTs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3994150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33007" y="1152144"/>
            <a:ext cx="5739231" cy="37947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96431" y="1115568"/>
            <a:ext cx="5739231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96431" y="1115568"/>
            <a:ext cx="5739231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69583" y="1216152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4447" y="1252728"/>
            <a:ext cx="1261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750">
                <a:solidFill>
                  <a:srgbClr val="15803D"/>
                </a:solidFill>
              </a:rPr>
              <a:t>SAME LOGIC · BETTER INFRA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4335" y="1170432"/>
            <a:ext cx="41481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Production Changes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6431" y="1572768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96431" y="1572768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87871" y="1609344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Database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1767" y="1609344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TimescaleDB distributed cluster (HA + replication)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96431" y="1836166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96431" y="1842516"/>
            <a:ext cx="5739231" cy="2697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96431" y="1842516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87871" y="1879092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Ingestion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1767" y="1879092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Kafka / Flink  —  replaces batch polling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96431" y="2105914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96431" y="2112264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96431" y="2112264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87871" y="2148840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Auth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1767" y="2148840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LDAP / RBAC  —  Section Eng / Inspector / Manager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96431" y="2375662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96431" y="2382012"/>
            <a:ext cx="5739231" cy="2697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6431" y="2382012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87871" y="2418588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Deployment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41767" y="2418588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Kubernetes  —  BESCOM data centre or NIC cloud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96431" y="2645410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96431" y="2651760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96431" y="2651760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87871" y="2688336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Monitoring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1767" y="2688336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Prometheus + Grafana + PagerDuty alerts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96431" y="2915158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96431" y="2921508"/>
            <a:ext cx="5739231" cy="2697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96431" y="2921508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87871" y="2958084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Forecasting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41767" y="2958084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Same model  —  retrained weekly on real AMI data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96431" y="3184906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96431" y="3191256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96431" y="3191256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87871" y="3227832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ML Retrain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41767" y="3227832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Isolation Forest  —  auto-retrained on inspector feedback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96431" y="3454654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196431" y="3461004"/>
            <a:ext cx="5739231" cy="26974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96431" y="3461004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87871" y="3497580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AMI Link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41767" y="3497580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Read-only REST/SFTP from real BESCOM AMI/MDM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96431" y="3724402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96431" y="3730752"/>
            <a:ext cx="5739231" cy="2697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96431" y="3730752"/>
            <a:ext cx="36576" cy="26974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87871" y="3767328"/>
            <a:ext cx="1417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800">
                <a:solidFill>
                  <a:srgbClr val="15803D"/>
                </a:solidFill>
              </a:rPr>
              <a:t>Scale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41767" y="3767328"/>
            <a:ext cx="4102455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1E293B"/>
                </a:solidFill>
              </a:rPr>
              <a:t>8.5M consumers  ·  50K DTs  ·  ~10M readings/day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96431" y="3994150"/>
            <a:ext cx="5739231" cy="63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56032" y="5074920"/>
            <a:ext cx="11679631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A162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84048" y="5138928"/>
            <a:ext cx="11423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A16207"/>
                </a:solidFill>
              </a:rPr>
              <a:t>✦  Detection &amp; forecasting algorithms are IDENTICAL in prototype and production  —  only infrastructure and data sources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REAL-WORLD DEPLOYABILITY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Built for Day-1 deployment at BESCOM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7033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37160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A5B"/>
                </a:solidFill>
                <a:latin typeface="Calibri"/>
              </a:rPr>
              <a:t>Read-only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64592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100% read. Zero writes to AMI/SCADA/MDM/billing.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280160"/>
            <a:ext cx="37033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1463040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48132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37160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A5B"/>
                </a:solidFill>
                <a:latin typeface="Calibri"/>
              </a:rPr>
              <a:t>No consumer PII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64592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Operates on meter_id + kWh + voltage + PF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1280160"/>
            <a:ext cx="37033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75904" y="1463040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48132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371600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A5B"/>
                </a:solidFill>
                <a:latin typeface="Calibri"/>
              </a:rPr>
              <a:t>Auditable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64592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Deterministic rule trace per flag. Audit 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176272"/>
            <a:ext cx="37033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2359152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37744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22677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A5B"/>
                </a:solidFill>
                <a:latin typeface="Calibri"/>
              </a:rPr>
              <a:t>Inspector in the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2542032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System recommends; inspector decides. No auto-disconnect.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176272"/>
            <a:ext cx="37033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53712" y="2359152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237744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22677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A5B"/>
                </a:solidFill>
                <a:latin typeface="Calibri"/>
              </a:rPr>
              <a:t>CEA-compliant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2542032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Reading-processing rules align with metering regulations.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93024" y="2176272"/>
            <a:ext cx="37033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75904" y="2359152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237744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78824" y="22677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A5B"/>
                </a:solidFill>
                <a:latin typeface="Calibri"/>
              </a:rPr>
              <a:t>On-premise deployable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2542032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4155"/>
                </a:solidFill>
                <a:latin typeface="Calibri"/>
              </a:rPr>
              <a:t>Docker Compose. Runs on BESCOM data centre.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Calibri"/>
              </a:rPr>
              <a:t>4-phase build plan from the submitted idea — all phases shipped in this prototype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703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3703320"/>
            <a:ext cx="26974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794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Phase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3794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34340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Ingestion · TimescaleDB · synthetic data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(8 DTs · 60+ meters · 180 days · 3 theft scenarios)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1206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206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✓ SHIPPED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80" y="3703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83280" y="3703320"/>
            <a:ext cx="26974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3794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Phase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3794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Forecasting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434340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Seasonal Baseline Forecasting · holidays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· seasonal features · zone risk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566160" y="51206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60" y="51206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✓ SHIPPED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3703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3703320"/>
            <a:ext cx="26974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3794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Phase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3794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434340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L0–L3 layers · confidence engine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· behavioural classifier · queue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51206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1206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✓ SHIPPED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52560" y="370332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52560" y="3703320"/>
            <a:ext cx="2697480" cy="50292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3794760"/>
            <a:ext cx="1097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Phase 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37947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UI &amp; Ops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4343400"/>
            <a:ext cx="233172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Dashboards · feedback loop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· Docker Compose · E2E tests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35440" y="512064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51206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✓ SHIPPED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SCALABILITY &amp;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Rs. 455 Cr / year recovery at BESCOM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  <a:latin typeface="Calibri"/>
              </a:rPr>
              <a:t>PROJECTED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Rs. 455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Projected annual recovery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80160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37160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  <a:latin typeface="Calibri"/>
              </a:rPr>
              <a:t>PROJECTED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4592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&lt; 1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402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Platform payback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280160"/>
            <a:ext cx="3703320" cy="137160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371600"/>
            <a:ext cx="33375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B45309"/>
                </a:solidFill>
                <a:latin typeface="Calibri"/>
              </a:rPr>
              <a:t>PROJECTED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645920"/>
            <a:ext cx="3337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Rs. 1,669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240280"/>
            <a:ext cx="3337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BD5E1"/>
                </a:solidFill>
                <a:latin typeface="Calibri"/>
              </a:rPr>
              <a:t>5-year NPV (10% discount)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A5B"/>
                </a:solidFill>
                <a:latin typeface="Calibri"/>
              </a:rPr>
              <a:t>Assumptions (live in /api/v1/metrics/roi)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3375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</a:tblGrid>
              <a:tr h="39188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BESCOM consumers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8,500,000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Active-theft prevalence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3% (industry avg)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Theft population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255,000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Detection rate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Avg monthly leakage / case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Rs. 3,500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Inspector cost saved vs random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240" y="2926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A5B"/>
                </a:solidFill>
                <a:latin typeface="Calibri"/>
              </a:rPr>
              <a:t>Replication potential — same architecture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92240" y="3337560"/>
          <a:ext cx="5166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005840"/>
                <a:gridCol w="141732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DISCOM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Consumers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Recovery / yr</a:t>
                      </a:r>
                    </a:p>
                  </a:txBody>
                  <a:tcPr marL="91440" marR="91440" marT="45720" marB="45720">
                    <a:solidFill>
                      <a:srgbClr val="0B2A5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TANGEDCO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30 M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~Rs. 3,200 Cr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MSEDCL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Maharashtra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28 M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~Rs. 2,900 Cr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UPPCL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33 M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~Rs. 3,500 Cr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0F172A"/>
                          </a:solidFill>
                          <a:latin typeface="Calibri"/>
                        </a:rPr>
                        <a:t>All-India DISCOMs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250 M+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Calibri"/>
                        </a:rPr>
                        <a:t>Rs. 25,000+ Cr</a:t>
                      </a:r>
                    </a:p>
                  </a:txBody>
                  <a:tcPr marL="91440" marR="9144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492240" y="5669280"/>
            <a:ext cx="5166360" cy="640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76072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TAM: Rs. 25,000+ Cr addressable across Indian DISCOMs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45309"/>
                </a:solidFill>
                <a:latin typeface="Calibri"/>
              </a:rPr>
              <a:t>SUBMISSION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A5B"/>
                </a:solidFill>
                <a:latin typeface="Calibri"/>
              </a:rPr>
              <a:t>How we map to each evaluation criterion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13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91672" cy="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VidyutDrishti  ·  AI for Bharat  ·  Theme 8: Smart Meter Intelligence &amp; Loss Detection (BESCOM)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github.com/srinidhirepala/VidyutDrishti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09728" cy="777240"/>
          </a:xfrm>
          <a:prstGeom prst="rect">
            <a:avLst/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50876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0B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0876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35331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Problem Relevance &amp;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66420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BESCOM-specific Rs. 1,800 Cr leakage · 3 named operational failures · conservative 1.5% theft prevalence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14884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48840"/>
            <a:ext cx="109728" cy="7772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37744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7744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22199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Technical Implementation &amp; 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53288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4-layer detection · Seasonal Baseline Forecasting · weighted confidence · 5-class classifier · live P=78%, R=85%, F1=0.81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01752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109728" cy="777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24612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4612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09067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Real-World Deployability &amp; Govt 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40156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Read-only · no PII · CEA-compliant · 4-phase build all shipped · Docker for BESCOM data centre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886200"/>
            <a:ext cx="109728" cy="7772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411480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1480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95935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Demo Quality &amp;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27024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7 working modules · 7 live API endpoints · 5-min jury verification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754880"/>
            <a:ext cx="11091672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754880"/>
            <a:ext cx="109728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983480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83480"/>
            <a:ext cx="6400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828032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A5B"/>
                </a:solidFill>
                <a:latin typeface="Calibri"/>
              </a:rPr>
              <a:t>Scalability &amp; Long-Term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13892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34155"/>
                </a:solidFill>
                <a:latin typeface="Calibri"/>
              </a:rPr>
              <a:t>Rs. 455 Cr/yr recovery · 5-yr NPV Rs. 1,669 Cr · Rs. 25,000 Cr all-India TAM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23560"/>
            <a:ext cx="11091672" cy="320040"/>
          </a:xfrm>
          <a:prstGeom prst="roundRect">
            <a:avLst>
              <a:gd name="adj" fmla="val 4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641848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B45309"/>
                </a:solidFill>
                <a:latin typeface="Calibri"/>
              </a:rPr>
              <a:t>VERIFY IN 5 MIN  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641848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Consolas"/>
              </a:rPr>
              <a:t>git clone … &amp;&amp; docker compose up   →   localhost:5173 (UI)  ·  localhost:8000/docs (API)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989320"/>
            <a:ext cx="11091672" cy="320040"/>
          </a:xfrm>
          <a:prstGeom prst="roundRect">
            <a:avLst>
              <a:gd name="adj" fmla="val 4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007608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▶  WATCH DEMO VIDEO 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6007608"/>
            <a:ext cx="84124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https://drive.google.com/file/d/1LOgpMxeu2LzAK52B-go-8gtAn6rHe1Eu/view?usp=sharing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3392424"/>
            <a:ext cx="94484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280160"/>
            <a:ext cx="12191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4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606040"/>
            <a:ext cx="121916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BDC3C7"/>
                </a:solidFill>
              </a:rPr>
              <a:t>VidyutDrishti  —  AT&amp;C Loss Recovery Intelligence for BESCOM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2487" y="3703320"/>
            <a:ext cx="2560320" cy="8686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2487" y="3776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DEMO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487" y="39959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ECF0F1"/>
                </a:solidFill>
              </a:rPr>
              <a:t>Watch the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2487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700">
                <a:solidFill>
                  <a:srgbClr val="F1C40F"/>
                </a:solidFill>
              </a:rPr>
              <a:t>drive.google.com/...1LOgpMxeu2...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15687" y="3703320"/>
            <a:ext cx="2560320" cy="8686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5687" y="3776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687" y="39959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ECF0F1"/>
                </a:solidFill>
              </a:rPr>
              <a:t>Explore the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5687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700">
                <a:solidFill>
                  <a:srgbClr val="F1C40F"/>
                </a:solidFill>
              </a:rPr>
              <a:t>github.com/srinidhirepala/VidyutDrishti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58887" y="3703320"/>
            <a:ext cx="2560320" cy="8686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8887" y="3776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RUN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8887" y="39959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ECF0F1"/>
                </a:solidFill>
              </a:rPr>
              <a:t>Verify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8887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700">
                <a:solidFill>
                  <a:srgbClr val="F1C40F"/>
                </a:solidFill>
              </a:rPr>
              <a:t>docker compose up → localhost:5173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577840"/>
            <a:ext cx="12191695" cy="822960"/>
          </a:xfrm>
          <a:prstGeom prst="rect">
            <a:avLst/>
          </a:prstGeom>
          <a:solidFill>
            <a:srgbClr val="1E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5650992"/>
            <a:ext cx="24383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1C40F"/>
                </a:solidFill>
              </a:rPr>
              <a:t>4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61888"/>
            <a:ext cx="24383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BDC3C7"/>
                </a:solidFill>
              </a:rPr>
              <a:t>L0 → L1 → L2 → 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339" y="5650992"/>
            <a:ext cx="24383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1C40F"/>
                </a:solidFill>
              </a:rPr>
              <a:t>7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339" y="5961888"/>
            <a:ext cx="24383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BDC3C7"/>
                </a:solidFill>
              </a:rPr>
              <a:t>All live in Docker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678" y="5650992"/>
            <a:ext cx="24383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1C40F"/>
                </a:solidFill>
              </a:rPr>
              <a:t>8 APIs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678" y="5961888"/>
            <a:ext cx="24383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BDC3C7"/>
                </a:solidFill>
              </a:rPr>
              <a:t>FastAPI + Swagger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017" y="5650992"/>
            <a:ext cx="24383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1C40F"/>
                </a:solidFill>
              </a:rPr>
              <a:t>Rs. 455 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017" y="5961888"/>
            <a:ext cx="24383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BDC3C7"/>
                </a:solidFill>
              </a:rPr>
              <a:t>BESCOM-scale recovery/yr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3356" y="5650992"/>
            <a:ext cx="24383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F1C40F"/>
                </a:solidFill>
              </a:rPr>
              <a:t>P=78% R=85%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356" y="5961888"/>
            <a:ext cx="24383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800">
                <a:solidFill>
                  <a:srgbClr val="BDC3C7"/>
                </a:solidFill>
              </a:rPr>
              <a:t>Live eval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